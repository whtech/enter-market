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TER Market" id="{b481969f-553d-9d22-0753-5c0da7d9f8cc}">
          <p14:sldIdLst>
            <p14:sldId id="256"/>
          </p14:sldIdLst>
        </p14:section>
        <p14:section name="Problem and product" id="{0878f78c-70a8-8349-1900-2ac09807bf2d}">
          <p14:sldIdLst>
            <p14:sldId id="257"/>
          </p14:sldIdLst>
        </p14:section>
        <p14:section name="In action" id="{51ddb16e-5967-baca-0b59-2d58ffd29375}">
          <p14:sldIdLst>
            <p14:sldId id="258"/>
          </p14:sldIdLst>
        </p14:section>
        <p14:section name="How it works" id="{3e888998-3542-d541-2607-38c650d6bde9}">
          <p14:sldIdLst>
            <p14:sldId id="259"/>
          </p14:sldIdLst>
        </p14:section>
        <p14:section name="Why Monad" id="{d0c35a6e-66fb-7816-4e69-b27bf615706a}">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Market is a market where AI agents pay people to make the calls they shouldn't make alone. I'm Wuming: I used to be Senior Everything, and today my main job is pressing ENTER for AI agents, about 1000 times a day. Now my agent pays you to press it, and everything you'll see is live on Monad testnet.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Coding agents keep stopping for a human: commit and push, which headline, is this output OK. Today that human is always you, and you're not paid. ENTER Market turns that pause into a paid market: the agent asks a multiple-choice question and escrows a reward, people in the room tap the answer on their phones, and the majority is paid while the agent carries on with the crowd's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frames from a production round. The projector shows the question, live vote bars, a QR with a room code that rotates every 10 seconds, and the payout feed. The phone taps, is confirmed in about two seconds and shows the reward; the terminal is the agent buying the decision over x402 and carrying on. We also wired a real Claude Code session: a hook asked the room before git push, the room voted 2 to 1 to ship, and the push ran. Judges outside the room can try a solo round at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agent hires a contractor agent for two cents over x402; the contractor keeps a cent and subcontracts to the local agent, which escrows 0.1 MON on Monad. People in the room tap with a room-code pass on a burner phone; at quorum the majority wins and one batch transaction pays every winner. The contract checks every pass onchain, supports one-time invite codes, and proof of personhood is next. A decision costs two cents plus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instead of quoting specs: 40 phones tapping at once all landed in one block about 1.9 seconds later, 100 of 100 taps landed across 3 blocks, and one transaction paid all 28 winners. Monad charges the full gas limit, so the quorum tap only decides the winner and payouts go out in one batch. Scan the QR to play, or open /try for a solo round. Now my agent pays you to press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_ONLY">
    <p:bg>
      <p:bgPr>
        <a:solidFill>
          <a:srgbClr val="0B0620"/>
        </a:solidFill>
      </p:bgPr>
    </p:bg>
    <p:spTree>
      <p:nvGrpSpPr>
        <p:cNvPr id="1" name=""/>
        <p:cNvGrpSpPr/>
        <p:nvPr/>
      </p:nvGrpSpPr>
      <p:grpSpPr>
        <a:xfrm>
          <a:off x="0" y="0"/>
          <a:ext cx="0" cy="0"/>
          <a:chOff x="0" y="0"/>
          <a:chExt cx="0" cy="0"/>
        </a:xfrm>
      </p:grpSpPr>
      <p:pic>
        <p:nvPicPr>
          <p:cNvPr id="2" name="Image 0" descr="/Users/aaron/Documents/work/gravity/hackathan/enter-market-deck/src/stars.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ph idx="101" type="title" hasCustomPrompt="1"/>
          </p:nvPr>
        </p:nvSpPr>
        <p:spPr>
          <a:xfrm>
            <a:off x="457200" y="256032"/>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943600" y="4800600"/>
            <a:ext cx="2743200" cy="228600"/>
          </a:xfrm>
          <a:prstGeom prst="rect">
            <a:avLst/>
          </a:prstGeom>
          <a:noFill/>
          <a:ln/>
        </p:spPr>
        <p:txBody>
          <a:bodyPr wrap="square" lIns="0" tIns="0" rIns="0" bIns="0" rtlCol="0" anchor="ctr"/>
          <a:lstStyle/>
          <a:p>
            <a:pPr algn="r" indent="0" marL="0">
              <a:buNone/>
            </a:pPr>
            <a:r>
              <a:rPr lang="en-US" sz="1000" dirty="0">
                <a:solidFill>
                  <a:schemeClr val="bg2"/>
                </a:solidFill>
              </a:rPr>
              <a:t>Monad Blitz Shanghai · 2026-10-17</a:t>
            </a:r>
            <a:endParaRPr lang="en-US" sz="1000" dirty="0"/>
          </a:p>
        </p:txBody>
      </p:sp>
      <p:sp>
        <p:nvSpPr>
          <p:cNvPr id="25" name="Slide Number Placeholder 0"/>
          <p:cNvSpPr>
            <a:spLocks noGrp="1"/>
          </p:cNvSpPr>
          <p:nvPr>
            <p:ph type="sldNum" sz="quarter" idx="4294967295"/>
          </p:nvPr>
        </p:nvSpPr>
        <p:spPr>
          <a:xfrm>
            <a:off x="457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accent2"/>
                </a:solidFill>
              </a:rPr>
              <a:t>ENTER </a:t>
            </a:r>
            <a:pPr algn="l" indent="0" marL="0">
              <a:buNone/>
            </a:pPr>
            <a:r>
              <a:rPr lang="en-US" sz="3000" b="1" dirty="0">
                <a:solidFill>
                  <a:schemeClr val="bg1"/>
                </a:solidFill>
              </a:rPr>
              <a:t>Market</a:t>
            </a:r>
            <a:endParaRPr lang="en-US" sz="3000" dirty="0"/>
          </a:p>
        </p:txBody>
      </p:sp>
      <p:pic>
        <p:nvPicPr>
          <p:cNvPr id="3" name="Avatar, ENTER Engineer" descr="/Users/aaron/Documents/work/gravity/hackathan/enter-engineer/wuming-now-monad.png">    </p:cNvPr>
          <p:cNvPicPr>
            <a:picLocks noChangeAspect="1"/>
          </p:cNvPicPr>
          <p:nvPr/>
        </p:nvPicPr>
        <p:blipFill>
          <a:blip r:embed="rId1"/>
          <a:stretch>
            <a:fillRect/>
          </a:stretch>
        </p:blipFill>
        <p:spPr>
          <a:xfrm>
            <a:off x="457200" y="1097280"/>
            <a:ext cx="3474720" cy="3474720"/>
          </a:xfrm>
          <a:prstGeom prst="ellipse">
            <a:avLst/>
          </a:prstGeom>
        </p:spPr>
      </p:pic>
      <p:sp>
        <p:nvSpPr>
          <p:cNvPr id="4" name="What it is"/>
          <p:cNvSpPr txBox="1"/>
          <p:nvPr/>
        </p:nvSpPr>
        <p:spPr>
          <a:xfrm>
            <a:off x="4343400" y="1097280"/>
            <a:ext cx="4343400" cy="1143000"/>
          </a:xfrm>
          <a:prstGeom prst="rect">
            <a:avLst/>
          </a:prstGeom>
          <a:noFill/>
          <a:ln/>
        </p:spPr>
        <p:txBody>
          <a:bodyPr wrap="square" lIns="0" tIns="0" rIns="0" bIns="0" rtlCol="0" anchor="t"/>
          <a:lstStyle/>
          <a:p>
            <a:pPr indent="0" marL="0">
              <a:buNone/>
            </a:pPr>
            <a:r>
              <a:rPr lang="en-US" sz="2200" b="1" dirty="0">
                <a:solidFill>
                  <a:schemeClr val="bg1"/>
                </a:solidFill>
              </a:rPr>
              <a:t>A market where AI agents pay people to make the calls they shouldn't make alone.</a:t>
            </a:r>
            <a:endParaRPr lang="en-US" sz="2200" dirty="0"/>
          </a:p>
        </p:txBody>
      </p:sp>
      <p:sp>
        <p:nvSpPr>
          <p:cNvPr id="5" name="Hook"/>
          <p:cNvSpPr txBox="1"/>
          <p:nvPr/>
        </p:nvSpPr>
        <p:spPr>
          <a:xfrm>
            <a:off x="4343400" y="2377440"/>
            <a:ext cx="4343400" cy="822960"/>
          </a:xfrm>
          <a:prstGeom prst="rect">
            <a:avLst/>
          </a:prstGeom>
          <a:noFill/>
          <a:ln/>
        </p:spPr>
        <p:txBody>
          <a:bodyPr wrap="square" lIns="0" tIns="0" rIns="0" bIns="0" rtlCol="0" anchor="t"/>
          <a:lstStyle/>
          <a:p>
            <a:pPr indent="0" marL="0">
              <a:buNone/>
            </a:pPr>
            <a:r>
              <a:rPr lang="en-US" sz="1600" i="1" dirty="0">
                <a:solidFill>
                  <a:schemeClr val="bg2"/>
                </a:solidFill>
              </a:rPr>
              <a:t>I press ENTER 1000× a day for AI agents. </a:t>
            </a:r>
            <a:endParaRPr lang="en-US" sz="1600" dirty="0"/>
          </a:p>
          <a:p>
            <a:pPr indent="0" marL="0">
              <a:buNone/>
            </a:pPr>
            <a:r>
              <a:rPr lang="en-US" sz="1600" i="1" dirty="0">
                <a:solidFill>
                  <a:schemeClr val="bg2"/>
                </a:solidFill>
              </a:rPr>
              <a:t>Now my agent pays </a:t>
            </a:r>
            <a:pPr indent="0" marL="0">
              <a:buNone/>
            </a:pPr>
            <a:r>
              <a:rPr lang="en-US" sz="1600" b="1" i="1" dirty="0">
                <a:solidFill>
                  <a:schemeClr val="accent3"/>
                </a:solidFill>
              </a:rPr>
              <a:t>you</a:t>
            </a:r>
            <a:pPr indent="0" marL="0">
              <a:buNone/>
            </a:pPr>
            <a:r>
              <a:rPr lang="en-US" sz="1600" i="1" dirty="0">
                <a:solidFill>
                  <a:schemeClr val="bg2"/>
                </a:solidFill>
              </a:rPr>
              <a:t> to press it.</a:t>
            </a:r>
            <a:endParaRPr lang="en-US" sz="1600" dirty="0"/>
          </a:p>
        </p:txBody>
      </p:sp>
      <p:sp>
        <p:nvSpPr>
          <p:cNvPr id="6" name="Live card"/>
          <p:cNvSpPr/>
          <p:nvPr/>
        </p:nvSpPr>
        <p:spPr>
          <a:xfrm>
            <a:off x="4343400" y="3520440"/>
            <a:ext cx="4343400" cy="1051560"/>
          </a:xfrm>
          <a:prstGeom prst="roundRect">
            <a:avLst>
              <a:gd name="adj" fmla="val 10435"/>
            </a:avLst>
          </a:prstGeom>
          <a:solidFill>
            <a:schemeClr val="tx2"/>
          </a:solidFill>
          <a:ln w="15875">
            <a:solidFill>
              <a:schemeClr val="accent1"/>
            </a:solidFill>
            <a:prstDash val="solid"/>
          </a:ln>
        </p:spPr>
      </p:sp>
      <p:sp>
        <p:nvSpPr>
          <p:cNvPr id="7" name="Live icon"/>
          <p:cNvSpPr/>
          <p:nvPr/>
        </p:nvSpPr>
        <p:spPr>
          <a:xfrm>
            <a:off x="4526280" y="3776472"/>
            <a:ext cx="548640" cy="54864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4646981" y="3897173"/>
            <a:ext cx="307238" cy="307238"/>
          </a:xfrm>
          <a:prstGeom prst="rect">
            <a:avLst/>
          </a:prstGeom>
        </p:spPr>
      </p:pic>
      <p:sp>
        <p:nvSpPr>
          <p:cNvPr id="9" name="Live text"/>
          <p:cNvSpPr txBox="1"/>
          <p:nvPr/>
        </p:nvSpPr>
        <p:spPr>
          <a:xfrm>
            <a:off x="5257800" y="3611880"/>
            <a:ext cx="3291840" cy="868680"/>
          </a:xfrm>
          <a:prstGeom prst="rect">
            <a:avLst/>
          </a:prstGeom>
          <a:noFill/>
          <a:ln/>
        </p:spPr>
        <p:txBody>
          <a:bodyPr wrap="square" lIns="0" tIns="0" rIns="0" bIns="0" rtlCol="0" anchor="ctr"/>
          <a:lstStyle/>
          <a:p>
            <a:pPr indent="0" marL="0">
              <a:buNone/>
            </a:pPr>
            <a:r>
              <a:rPr lang="en-US" sz="1600" b="1" dirty="0">
                <a:solidFill>
                  <a:schemeClr val="accent6"/>
                </a:solidFill>
              </a:rPr>
              <a:t>Live on Monad testnet</a:t>
            </a:r>
            <a:endParaRPr lang="en-US" sz="1600" dirty="0"/>
          </a:p>
          <a:p>
            <a:pPr indent="0" marL="0">
              <a:buNone/>
            </a:pPr>
            <a:r>
              <a:rPr lang="en-US" sz="1400" dirty="0">
                <a:solidFill>
                  <a:schemeClr val="accent2"/>
                </a:solidFill>
              </a:rPr>
              <a:t>enter-market.vercel.app</a:t>
            </a:r>
            <a:endParaRPr lang="en-US" sz="1600" dirty="0"/>
          </a:p>
        </p:txBody>
      </p:sp>
      <p:sp>
        <p:nvSpPr>
          <p:cNvPr id="25" name="Slide Number Placeholder 0"/>
          <p:cNvSpPr>
            <a:spLocks noGrp="1"/>
          </p:cNvSpPr>
          <p:nvPr>
            <p:ph type="sldNum" sz="quarter" idx="4294967295"/>
          </p:nvPr>
        </p:nvSpPr>
        <p:spPr>
          <a:xfrm>
            <a:off x="457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The problem </a:t>
            </a:r>
            <a:pPr algn="l" indent="0" marL="0">
              <a:buNone/>
            </a:pPr>
            <a:r>
              <a:rPr lang="en-US" sz="3000" b="1" dirty="0">
                <a:solidFill>
                  <a:schemeClr val="accent2"/>
                </a:solidFill>
              </a:rPr>
              <a:t>→ ENTER Market</a:t>
            </a:r>
            <a:endParaRPr lang="en-US" sz="3000" dirty="0"/>
          </a:p>
        </p:txBody>
      </p:sp>
      <p:sp>
        <p:nvSpPr>
          <p:cNvPr id="3" name="Problem head"/>
          <p:cNvSpPr txBox="1"/>
          <p:nvPr/>
        </p:nvSpPr>
        <p:spPr>
          <a:xfrm>
            <a:off x="457200" y="1051560"/>
            <a:ext cx="3840480" cy="320040"/>
          </a:xfrm>
          <a:prstGeom prst="rect">
            <a:avLst/>
          </a:prstGeom>
          <a:noFill/>
          <a:ln/>
        </p:spPr>
        <p:txBody>
          <a:bodyPr wrap="square" lIns="0" tIns="0" rIns="0" bIns="0" rtlCol="0" anchor="ctr"/>
          <a:lstStyle/>
          <a:p>
            <a:pPr indent="0" marL="0">
              <a:buNone/>
            </a:pPr>
            <a:r>
              <a:rPr lang="en-US" sz="1500" b="1" dirty="0">
                <a:solidFill>
                  <a:schemeClr val="accent6"/>
                </a:solidFill>
              </a:rPr>
              <a:t>Coding agents stop for a human ~1000× a day</a:t>
            </a:r>
            <a:endParaRPr lang="en-US" sz="1500" dirty="0"/>
          </a:p>
        </p:txBody>
      </p:sp>
      <p:sp>
        <p:nvSpPr>
          <p:cNvPr id="4" name="Prompt 1 bubble"/>
          <p:cNvSpPr/>
          <p:nvPr/>
        </p:nvSpPr>
        <p:spPr>
          <a:xfrm>
            <a:off x="457200" y="1481328"/>
            <a:ext cx="3520440" cy="475488"/>
          </a:xfrm>
          <a:prstGeom prst="roundRect">
            <a:avLst>
              <a:gd name="adj" fmla="val 38462"/>
            </a:avLst>
          </a:prstGeom>
          <a:solidFill>
            <a:schemeClr val="tx2"/>
          </a:solidFill>
          <a:ln w="12700">
            <a:solidFill>
              <a:schemeClr val="accent5"/>
            </a:solidFill>
            <a:prstDash val="solid"/>
          </a:ln>
        </p:spPr>
      </p:sp>
      <p:pic>
        <p:nvPicPr>
          <p:cNvPr id="5" name="Image 0" descr="preencoded.png">    </p:cNvPr>
          <p:cNvPicPr>
            <a:picLocks noChangeAspect="1"/>
          </p:cNvPicPr>
          <p:nvPr/>
        </p:nvPicPr>
        <p:blipFill>
          <a:blip r:embed="rId1"/>
          <a:stretch>
            <a:fillRect/>
          </a:stretch>
        </p:blipFill>
        <p:spPr>
          <a:xfrm>
            <a:off x="594360" y="1600200"/>
            <a:ext cx="237744" cy="237744"/>
          </a:xfrm>
          <a:prstGeom prst="rect">
            <a:avLst/>
          </a:prstGeom>
        </p:spPr>
      </p:pic>
      <p:sp>
        <p:nvSpPr>
          <p:cNvPr id="6" name="Prompt 1"/>
          <p:cNvSpPr txBox="1"/>
          <p:nvPr/>
        </p:nvSpPr>
        <p:spPr>
          <a:xfrm>
            <a:off x="960120" y="1481328"/>
            <a:ext cx="2926080" cy="475488"/>
          </a:xfrm>
          <a:prstGeom prst="rect">
            <a:avLst/>
          </a:prstGeom>
          <a:noFill/>
          <a:ln/>
        </p:spPr>
        <p:txBody>
          <a:bodyPr wrap="square" lIns="0" tIns="0" rIns="0" bIns="0" rtlCol="0" anchor="ctr"/>
          <a:lstStyle/>
          <a:p>
            <a:pPr indent="0" marL="0">
              <a:buNone/>
            </a:pPr>
            <a:r>
              <a:rPr lang="en-US" sz="1500" dirty="0">
                <a:solidFill>
                  <a:schemeClr val="bg1"/>
                </a:solidFill>
              </a:rPr>
              <a:t>Commit and push?</a:t>
            </a:r>
            <a:endParaRPr lang="en-US" sz="1500" dirty="0"/>
          </a:p>
        </p:txBody>
      </p:sp>
      <p:sp>
        <p:nvSpPr>
          <p:cNvPr id="7" name="Prompt 2 bubble"/>
          <p:cNvSpPr/>
          <p:nvPr/>
        </p:nvSpPr>
        <p:spPr>
          <a:xfrm>
            <a:off x="777240" y="2103120"/>
            <a:ext cx="3520440" cy="475488"/>
          </a:xfrm>
          <a:prstGeom prst="roundRect">
            <a:avLst>
              <a:gd name="adj" fmla="val 38462"/>
            </a:avLst>
          </a:prstGeom>
          <a:solidFill>
            <a:schemeClr val="tx2"/>
          </a:solidFill>
          <a:ln w="12700">
            <a:solidFill>
              <a:schemeClr val="accent5"/>
            </a:solidFill>
            <a:prstDash val="solid"/>
          </a:ln>
        </p:spPr>
      </p:sp>
      <p:pic>
        <p:nvPicPr>
          <p:cNvPr id="8" name="Image 1" descr="preencoded.png">    </p:cNvPr>
          <p:cNvPicPr>
            <a:picLocks noChangeAspect="1"/>
          </p:cNvPicPr>
          <p:nvPr/>
        </p:nvPicPr>
        <p:blipFill>
          <a:blip r:embed="rId2"/>
          <a:stretch>
            <a:fillRect/>
          </a:stretch>
        </p:blipFill>
        <p:spPr>
          <a:xfrm>
            <a:off x="914400" y="2221992"/>
            <a:ext cx="237744" cy="237744"/>
          </a:xfrm>
          <a:prstGeom prst="rect">
            <a:avLst/>
          </a:prstGeom>
        </p:spPr>
      </p:pic>
      <p:sp>
        <p:nvSpPr>
          <p:cNvPr id="9" name="Prompt 2"/>
          <p:cNvSpPr txBox="1"/>
          <p:nvPr/>
        </p:nvSpPr>
        <p:spPr>
          <a:xfrm>
            <a:off x="1280160" y="2103120"/>
            <a:ext cx="2926080" cy="475488"/>
          </a:xfrm>
          <a:prstGeom prst="rect">
            <a:avLst/>
          </a:prstGeom>
          <a:noFill/>
          <a:ln/>
        </p:spPr>
        <p:txBody>
          <a:bodyPr wrap="square" lIns="0" tIns="0" rIns="0" bIns="0" rtlCol="0" anchor="ctr"/>
          <a:lstStyle/>
          <a:p>
            <a:pPr indent="0" marL="0">
              <a:buNone/>
            </a:pPr>
            <a:r>
              <a:rPr lang="en-US" sz="1500" dirty="0">
                <a:solidFill>
                  <a:schemeClr val="bg1"/>
                </a:solidFill>
              </a:rPr>
              <a:t>Which of these 3 headlines?</a:t>
            </a:r>
            <a:endParaRPr lang="en-US" sz="1500" dirty="0"/>
          </a:p>
        </p:txBody>
      </p:sp>
      <p:sp>
        <p:nvSpPr>
          <p:cNvPr id="10" name="Prompt 3 bubble"/>
          <p:cNvSpPr/>
          <p:nvPr/>
        </p:nvSpPr>
        <p:spPr>
          <a:xfrm>
            <a:off x="457200" y="2724912"/>
            <a:ext cx="3520440" cy="475488"/>
          </a:xfrm>
          <a:prstGeom prst="roundRect">
            <a:avLst>
              <a:gd name="adj" fmla="val 38462"/>
            </a:avLst>
          </a:prstGeom>
          <a:solidFill>
            <a:schemeClr val="tx2"/>
          </a:solidFill>
          <a:ln w="12700">
            <a:solidFill>
              <a:schemeClr val="accent5"/>
            </a:solidFill>
            <a:prstDash val="solid"/>
          </a:ln>
        </p:spPr>
      </p:sp>
      <p:pic>
        <p:nvPicPr>
          <p:cNvPr id="11" name="Image 2" descr="preencoded.png">    </p:cNvPr>
          <p:cNvPicPr>
            <a:picLocks noChangeAspect="1"/>
          </p:cNvPicPr>
          <p:nvPr/>
        </p:nvPicPr>
        <p:blipFill>
          <a:blip r:embed="rId3"/>
          <a:stretch>
            <a:fillRect/>
          </a:stretch>
        </p:blipFill>
        <p:spPr>
          <a:xfrm>
            <a:off x="594360" y="2843784"/>
            <a:ext cx="237744" cy="237744"/>
          </a:xfrm>
          <a:prstGeom prst="rect">
            <a:avLst/>
          </a:prstGeom>
        </p:spPr>
      </p:pic>
      <p:sp>
        <p:nvSpPr>
          <p:cNvPr id="12" name="Prompt 3"/>
          <p:cNvSpPr txBox="1"/>
          <p:nvPr/>
        </p:nvSpPr>
        <p:spPr>
          <a:xfrm>
            <a:off x="960120" y="2724912"/>
            <a:ext cx="2926080" cy="475488"/>
          </a:xfrm>
          <a:prstGeom prst="rect">
            <a:avLst/>
          </a:prstGeom>
          <a:noFill/>
          <a:ln/>
        </p:spPr>
        <p:txBody>
          <a:bodyPr wrap="square" lIns="0" tIns="0" rIns="0" bIns="0" rtlCol="0" anchor="ctr"/>
          <a:lstStyle/>
          <a:p>
            <a:pPr indent="0" marL="0">
              <a:buNone/>
            </a:pPr>
            <a:r>
              <a:rPr lang="en-US" sz="1500" dirty="0">
                <a:solidFill>
                  <a:schemeClr val="bg1"/>
                </a:solidFill>
              </a:rPr>
              <a:t>Is this output OK?</a:t>
            </a:r>
            <a:endParaRPr lang="en-US" sz="1500" dirty="0"/>
          </a:p>
        </p:txBody>
      </p:sp>
      <p:sp>
        <p:nvSpPr>
          <p:cNvPr id="13" name="Problem punchline"/>
          <p:cNvSpPr txBox="1"/>
          <p:nvPr/>
        </p:nvSpPr>
        <p:spPr>
          <a:xfrm>
            <a:off x="457200" y="3383280"/>
            <a:ext cx="3840480" cy="365760"/>
          </a:xfrm>
          <a:prstGeom prst="rect">
            <a:avLst/>
          </a:prstGeom>
          <a:noFill/>
          <a:ln/>
        </p:spPr>
        <p:txBody>
          <a:bodyPr wrap="square" lIns="0" tIns="0" rIns="0" bIns="0" rtlCol="0" anchor="ctr"/>
          <a:lstStyle/>
          <a:p>
            <a:pPr indent="0" marL="0">
              <a:buNone/>
            </a:pPr>
            <a:r>
              <a:rPr lang="en-US" sz="1600" i="1" dirty="0">
                <a:solidFill>
                  <a:schemeClr val="bg1"/>
                </a:solidFill>
              </a:rPr>
              <a:t>Today that human is always </a:t>
            </a:r>
            <a:pPr indent="0" marL="0">
              <a:buNone/>
            </a:pPr>
            <a:r>
              <a:rPr lang="en-US" sz="1600" b="1" i="1" dirty="0">
                <a:solidFill>
                  <a:schemeClr val="accent3"/>
                </a:solidFill>
              </a:rPr>
              <a:t>you, unpaid.</a:t>
            </a:r>
            <a:endParaRPr lang="en-US" sz="1600" dirty="0"/>
          </a:p>
        </p:txBody>
      </p:sp>
      <p:sp>
        <p:nvSpPr>
          <p:cNvPr id="14" name="Solution head"/>
          <p:cNvSpPr txBox="1"/>
          <p:nvPr/>
        </p:nvSpPr>
        <p:spPr>
          <a:xfrm>
            <a:off x="4663440" y="1051560"/>
            <a:ext cx="4023360" cy="320040"/>
          </a:xfrm>
          <a:prstGeom prst="rect">
            <a:avLst/>
          </a:prstGeom>
          <a:noFill/>
          <a:ln/>
        </p:spPr>
        <p:txBody>
          <a:bodyPr wrap="square" lIns="0" tIns="0" rIns="0" bIns="0" rtlCol="0" anchor="ctr"/>
          <a:lstStyle/>
          <a:p>
            <a:pPr indent="0" marL="0">
              <a:buNone/>
            </a:pPr>
            <a:r>
              <a:rPr lang="en-US" sz="1500" b="1" dirty="0">
                <a:solidFill>
                  <a:schemeClr val="accent2"/>
                </a:solidFill>
              </a:rPr>
              <a:t>ENTER Market lets the agent buy that call</a:t>
            </a:r>
            <a:endParaRPr lang="en-US" sz="1500" dirty="0"/>
          </a:p>
        </p:txBody>
      </p:sp>
      <p:sp>
        <p:nvSpPr>
          <p:cNvPr id="15" name="Step 1 card"/>
          <p:cNvSpPr/>
          <p:nvPr/>
        </p:nvSpPr>
        <p:spPr>
          <a:xfrm>
            <a:off x="4663440" y="1481328"/>
            <a:ext cx="4023360" cy="658368"/>
          </a:xfrm>
          <a:prstGeom prst="roundRect">
            <a:avLst>
              <a:gd name="adj" fmla="val 16667"/>
            </a:avLst>
          </a:prstGeom>
          <a:solidFill>
            <a:schemeClr val="tx2"/>
          </a:solidFill>
          <a:ln w="15875">
            <a:solidFill>
              <a:schemeClr val="accent4"/>
            </a:solidFill>
            <a:prstDash val="solid"/>
          </a:ln>
        </p:spPr>
      </p:sp>
      <p:sp>
        <p:nvSpPr>
          <p:cNvPr id="16" name="Step 1 icon"/>
          <p:cNvSpPr/>
          <p:nvPr/>
        </p:nvSpPr>
        <p:spPr>
          <a:xfrm>
            <a:off x="4800600" y="1600200"/>
            <a:ext cx="420624" cy="420624"/>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4893137" y="1692737"/>
            <a:ext cx="235549" cy="235549"/>
          </a:xfrm>
          <a:prstGeom prst="rect">
            <a:avLst/>
          </a:prstGeom>
        </p:spPr>
      </p:pic>
      <p:sp>
        <p:nvSpPr>
          <p:cNvPr id="18" name="Step 1"/>
          <p:cNvSpPr txBox="1"/>
          <p:nvPr/>
        </p:nvSpPr>
        <p:spPr>
          <a:xfrm>
            <a:off x="5349240" y="1517904"/>
            <a:ext cx="3246120" cy="585216"/>
          </a:xfrm>
          <a:prstGeom prst="rect">
            <a:avLst/>
          </a:prstGeom>
          <a:noFill/>
          <a:ln/>
        </p:spPr>
        <p:txBody>
          <a:bodyPr wrap="square" lIns="0" tIns="0" rIns="0" bIns="0" rtlCol="0" anchor="ctr"/>
          <a:lstStyle/>
          <a:p>
            <a:pPr indent="0" marL="0">
              <a:buNone/>
            </a:pPr>
            <a:r>
              <a:rPr lang="en-US" sz="1400" b="1" dirty="0">
                <a:solidFill>
                  <a:schemeClr val="bg1"/>
                </a:solidFill>
              </a:rPr>
              <a:t>1. The agent asks</a:t>
            </a:r>
            <a:endParaRPr lang="en-US" sz="1400" dirty="0"/>
          </a:p>
          <a:p>
            <a:pPr indent="0" marL="0">
              <a:buNone/>
            </a:pPr>
            <a:r>
              <a:rPr lang="en-US" sz="1100" dirty="0">
                <a:solidFill>
                  <a:schemeClr val="bg2"/>
                </a:solidFill>
              </a:rPr>
              <a:t>a multiple-choice question and escrows a MON reward</a:t>
            </a:r>
            <a:endParaRPr lang="en-US" sz="1400" dirty="0"/>
          </a:p>
        </p:txBody>
      </p:sp>
      <p:sp>
        <p:nvSpPr>
          <p:cNvPr id="19" name="Step 2 card"/>
          <p:cNvSpPr/>
          <p:nvPr/>
        </p:nvSpPr>
        <p:spPr>
          <a:xfrm>
            <a:off x="4663440" y="2240280"/>
            <a:ext cx="4023360" cy="658368"/>
          </a:xfrm>
          <a:prstGeom prst="roundRect">
            <a:avLst>
              <a:gd name="adj" fmla="val 16667"/>
            </a:avLst>
          </a:prstGeom>
          <a:solidFill>
            <a:schemeClr val="tx2"/>
          </a:solidFill>
          <a:ln w="15875">
            <a:solidFill>
              <a:schemeClr val="accent4"/>
            </a:solidFill>
            <a:prstDash val="solid"/>
          </a:ln>
        </p:spPr>
      </p:sp>
      <p:sp>
        <p:nvSpPr>
          <p:cNvPr id="20" name="Step 2 icon"/>
          <p:cNvSpPr/>
          <p:nvPr/>
        </p:nvSpPr>
        <p:spPr>
          <a:xfrm>
            <a:off x="4800600" y="2359152"/>
            <a:ext cx="420624" cy="420624"/>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4893137" y="2451689"/>
            <a:ext cx="235549" cy="235549"/>
          </a:xfrm>
          <a:prstGeom prst="rect">
            <a:avLst/>
          </a:prstGeom>
        </p:spPr>
      </p:pic>
      <p:sp>
        <p:nvSpPr>
          <p:cNvPr id="22" name="Step 2"/>
          <p:cNvSpPr txBox="1"/>
          <p:nvPr/>
        </p:nvSpPr>
        <p:spPr>
          <a:xfrm>
            <a:off x="5349240" y="2276856"/>
            <a:ext cx="3246120" cy="585216"/>
          </a:xfrm>
          <a:prstGeom prst="rect">
            <a:avLst/>
          </a:prstGeom>
          <a:noFill/>
          <a:ln/>
        </p:spPr>
        <p:txBody>
          <a:bodyPr wrap="square" lIns="0" tIns="0" rIns="0" bIns="0" rtlCol="0" anchor="ctr"/>
          <a:lstStyle/>
          <a:p>
            <a:pPr indent="0" marL="0">
              <a:buNone/>
            </a:pPr>
            <a:r>
              <a:rPr lang="en-US" sz="1400" b="1" dirty="0">
                <a:solidFill>
                  <a:schemeClr val="bg1"/>
                </a:solidFill>
              </a:rPr>
              <a:t>2. The room taps</a:t>
            </a:r>
            <a:endParaRPr lang="en-US" sz="1400" dirty="0"/>
          </a:p>
          <a:p>
            <a:pPr indent="0" marL="0">
              <a:buNone/>
            </a:pPr>
            <a:r>
              <a:rPr lang="en-US" sz="1100" dirty="0">
                <a:solidFill>
                  <a:schemeClr val="bg2"/>
                </a:solidFill>
              </a:rPr>
              <a:t>the answer on their phones, no wallet install</a:t>
            </a:r>
            <a:endParaRPr lang="en-US" sz="1400" dirty="0"/>
          </a:p>
        </p:txBody>
      </p:sp>
      <p:sp>
        <p:nvSpPr>
          <p:cNvPr id="23" name="Step 3 card"/>
          <p:cNvSpPr/>
          <p:nvPr/>
        </p:nvSpPr>
        <p:spPr>
          <a:xfrm>
            <a:off x="4663440" y="2999232"/>
            <a:ext cx="4023360" cy="658368"/>
          </a:xfrm>
          <a:prstGeom prst="roundRect">
            <a:avLst>
              <a:gd name="adj" fmla="val 16667"/>
            </a:avLst>
          </a:prstGeom>
          <a:solidFill>
            <a:schemeClr val="tx2"/>
          </a:solidFill>
          <a:ln w="15875">
            <a:solidFill>
              <a:schemeClr val="accent2"/>
            </a:solidFill>
            <a:prstDash val="solid"/>
          </a:ln>
        </p:spPr>
      </p:sp>
      <p:sp>
        <p:nvSpPr>
          <p:cNvPr id="24" name="Step 3 icon"/>
          <p:cNvSpPr/>
          <p:nvPr/>
        </p:nvSpPr>
        <p:spPr>
          <a:xfrm>
            <a:off x="4800600" y="3118104"/>
            <a:ext cx="420624" cy="420624"/>
          </a:xfrm>
          <a:prstGeom prst="ellipse">
            <a:avLst/>
          </a:prstGeom>
          <a:solidFill>
            <a:schemeClr val="accent3"/>
          </a:solidFill>
          <a:ln/>
        </p:spPr>
      </p:sp>
      <p:pic>
        <p:nvPicPr>
          <p:cNvPr id="25" name="Image 5" descr="preencoded.png">    </p:cNvPr>
          <p:cNvPicPr>
            <a:picLocks noChangeAspect="1"/>
          </p:cNvPicPr>
          <p:nvPr/>
        </p:nvPicPr>
        <p:blipFill>
          <a:blip r:embed="rId6"/>
          <a:stretch>
            <a:fillRect/>
          </a:stretch>
        </p:blipFill>
        <p:spPr>
          <a:xfrm>
            <a:off x="4893137" y="3210641"/>
            <a:ext cx="235549" cy="235549"/>
          </a:xfrm>
          <a:prstGeom prst="rect">
            <a:avLst/>
          </a:prstGeom>
        </p:spPr>
      </p:pic>
      <p:sp>
        <p:nvSpPr>
          <p:cNvPr id="26" name="Step 3"/>
          <p:cNvSpPr txBox="1"/>
          <p:nvPr/>
        </p:nvSpPr>
        <p:spPr>
          <a:xfrm>
            <a:off x="5349240" y="3035808"/>
            <a:ext cx="3246120" cy="585216"/>
          </a:xfrm>
          <a:prstGeom prst="rect">
            <a:avLst/>
          </a:prstGeom>
          <a:noFill/>
          <a:ln/>
        </p:spPr>
        <p:txBody>
          <a:bodyPr wrap="square" lIns="0" tIns="0" rIns="0" bIns="0" rtlCol="0" anchor="ctr"/>
          <a:lstStyle/>
          <a:p>
            <a:pPr indent="0" marL="0">
              <a:buNone/>
            </a:pPr>
            <a:r>
              <a:rPr lang="en-US" sz="1400" b="1" dirty="0">
                <a:solidFill>
                  <a:schemeClr val="bg1"/>
                </a:solidFill>
              </a:rPr>
              <a:t>3. The majority is paid</a:t>
            </a:r>
            <a:endParaRPr lang="en-US" sz="1400" dirty="0"/>
          </a:p>
          <a:p>
            <a:pPr indent="0" marL="0">
              <a:buNone/>
            </a:pPr>
            <a:r>
              <a:rPr lang="en-US" sz="1100" dirty="0">
                <a:solidFill>
                  <a:schemeClr val="bg2"/>
                </a:solidFill>
              </a:rPr>
              <a:t>and the agent keeps working with the crowd's answer</a:t>
            </a:r>
            <a:endParaRPr lang="en-US" sz="1400" dirty="0"/>
          </a:p>
        </p:txBody>
      </p:sp>
      <p:sp>
        <p:nvSpPr>
          <p:cNvPr id="27" name="Use cases label"/>
          <p:cNvSpPr txBox="1"/>
          <p:nvPr/>
        </p:nvSpPr>
        <p:spPr>
          <a:xfrm>
            <a:off x="457200" y="4041648"/>
            <a:ext cx="1188720" cy="365760"/>
          </a:xfrm>
          <a:prstGeom prst="rect">
            <a:avLst/>
          </a:prstGeom>
          <a:noFill/>
          <a:ln/>
        </p:spPr>
        <p:txBody>
          <a:bodyPr wrap="square" lIns="0" tIns="0" rIns="0" bIns="0" rtlCol="0" anchor="ctr"/>
          <a:lstStyle/>
          <a:p>
            <a:pPr indent="0" marL="0">
              <a:buNone/>
            </a:pPr>
            <a:r>
              <a:rPr lang="en-US" sz="1300" b="1" dirty="0">
                <a:solidFill>
                  <a:schemeClr val="bg2"/>
                </a:solidFill>
              </a:rPr>
              <a:t>Use cases</a:t>
            </a:r>
            <a:endParaRPr lang="en-US" sz="1300" dirty="0"/>
          </a:p>
        </p:txBody>
      </p:sp>
      <p:sp>
        <p:nvSpPr>
          <p:cNvPr id="28" name="Use case 1 chip"/>
          <p:cNvSpPr/>
          <p:nvPr/>
        </p:nvSpPr>
        <p:spPr>
          <a:xfrm>
            <a:off x="1600200" y="4041648"/>
            <a:ext cx="2148840" cy="365760"/>
          </a:xfrm>
          <a:prstGeom prst="roundRect">
            <a:avLst>
              <a:gd name="adj" fmla="val 50000"/>
            </a:avLst>
          </a:prstGeom>
          <a:solidFill>
            <a:schemeClr val="accent4"/>
          </a:solidFill>
          <a:ln w="12700">
            <a:solidFill>
              <a:schemeClr val="accent1"/>
            </a:solidFill>
            <a:prstDash val="solid"/>
          </a:ln>
        </p:spPr>
      </p:sp>
      <p:sp>
        <p:nvSpPr>
          <p:cNvPr id="29" name="Use case 1"/>
          <p:cNvSpPr txBox="1"/>
          <p:nvPr/>
        </p:nvSpPr>
        <p:spPr>
          <a:xfrm>
            <a:off x="1600200" y="4041648"/>
            <a:ext cx="2148840" cy="365760"/>
          </a:xfrm>
          <a:prstGeom prst="rect">
            <a:avLst/>
          </a:prstGeom>
          <a:noFill/>
          <a:ln/>
        </p:spPr>
        <p:txBody>
          <a:bodyPr wrap="square" lIns="0" tIns="0" rIns="0" bIns="0" rtlCol="0" anchor="ctr"/>
          <a:lstStyle/>
          <a:p>
            <a:pPr algn="ctr" indent="0" marL="0">
              <a:buNone/>
            </a:pPr>
            <a:r>
              <a:rPr lang="en-US" sz="1300" dirty="0">
                <a:solidFill>
                  <a:schemeClr val="bg1"/>
                </a:solidFill>
              </a:rPr>
              <a:t>Ship / deploy approvals</a:t>
            </a:r>
            <a:endParaRPr lang="en-US" sz="1300" dirty="0"/>
          </a:p>
        </p:txBody>
      </p:sp>
      <p:sp>
        <p:nvSpPr>
          <p:cNvPr id="30" name="Use case 2 chip"/>
          <p:cNvSpPr/>
          <p:nvPr/>
        </p:nvSpPr>
        <p:spPr>
          <a:xfrm>
            <a:off x="3931920" y="4041648"/>
            <a:ext cx="2103120" cy="365760"/>
          </a:xfrm>
          <a:prstGeom prst="roundRect">
            <a:avLst>
              <a:gd name="adj" fmla="val 50000"/>
            </a:avLst>
          </a:prstGeom>
          <a:solidFill>
            <a:schemeClr val="accent4"/>
          </a:solidFill>
          <a:ln w="12700">
            <a:solidFill>
              <a:schemeClr val="accent1"/>
            </a:solidFill>
            <a:prstDash val="solid"/>
          </a:ln>
        </p:spPr>
      </p:sp>
      <p:sp>
        <p:nvSpPr>
          <p:cNvPr id="31" name="Use case 2"/>
          <p:cNvSpPr txBox="1"/>
          <p:nvPr/>
        </p:nvSpPr>
        <p:spPr>
          <a:xfrm>
            <a:off x="3931920" y="4041648"/>
            <a:ext cx="2103120" cy="365760"/>
          </a:xfrm>
          <a:prstGeom prst="rect">
            <a:avLst/>
          </a:prstGeom>
          <a:noFill/>
          <a:ln/>
        </p:spPr>
        <p:txBody>
          <a:bodyPr wrap="square" lIns="0" tIns="0" rIns="0" bIns="0" rtlCol="0" anchor="ctr"/>
          <a:lstStyle/>
          <a:p>
            <a:pPr algn="ctr" indent="0" marL="0">
              <a:buNone/>
            </a:pPr>
            <a:r>
              <a:rPr lang="en-US" sz="1300" dirty="0">
                <a:solidFill>
                  <a:schemeClr val="bg1"/>
                </a:solidFill>
              </a:rPr>
              <a:t>Picking copy or designs</a:t>
            </a:r>
            <a:endParaRPr lang="en-US" sz="1300" dirty="0"/>
          </a:p>
        </p:txBody>
      </p:sp>
      <p:sp>
        <p:nvSpPr>
          <p:cNvPr id="32" name="Use case 3 chip"/>
          <p:cNvSpPr/>
          <p:nvPr/>
        </p:nvSpPr>
        <p:spPr>
          <a:xfrm>
            <a:off x="6217920" y="4041648"/>
            <a:ext cx="1920240" cy="365760"/>
          </a:xfrm>
          <a:prstGeom prst="roundRect">
            <a:avLst>
              <a:gd name="adj" fmla="val 50000"/>
            </a:avLst>
          </a:prstGeom>
          <a:solidFill>
            <a:schemeClr val="accent4"/>
          </a:solidFill>
          <a:ln w="12700">
            <a:solidFill>
              <a:schemeClr val="accent1"/>
            </a:solidFill>
            <a:prstDash val="solid"/>
          </a:ln>
        </p:spPr>
      </p:sp>
      <p:sp>
        <p:nvSpPr>
          <p:cNvPr id="33" name="Use case 3"/>
          <p:cNvSpPr txBox="1"/>
          <p:nvPr/>
        </p:nvSpPr>
        <p:spPr>
          <a:xfrm>
            <a:off x="6217920" y="4041648"/>
            <a:ext cx="1920240" cy="365760"/>
          </a:xfrm>
          <a:prstGeom prst="rect">
            <a:avLst/>
          </a:prstGeom>
          <a:noFill/>
          <a:ln/>
        </p:spPr>
        <p:txBody>
          <a:bodyPr wrap="square" lIns="0" tIns="0" rIns="0" bIns="0" rtlCol="0" anchor="ctr"/>
          <a:lstStyle/>
          <a:p>
            <a:pPr algn="ctr" indent="0" marL="0">
              <a:buNone/>
            </a:pPr>
            <a:r>
              <a:rPr lang="en-US" sz="1300" dirty="0">
                <a:solidFill>
                  <a:schemeClr val="bg1"/>
                </a:solidFill>
              </a:rPr>
              <a:t>“Is this output OK?”</a:t>
            </a:r>
            <a:endParaRPr lang="en-US" sz="1300" dirty="0"/>
          </a:p>
        </p:txBody>
      </p:sp>
      <p:sp>
        <p:nvSpPr>
          <p:cNvPr id="25" name="Slide Number Placeholder 0"/>
          <p:cNvSpPr>
            <a:spLocks noGrp="1"/>
          </p:cNvSpPr>
          <p:nvPr>
            <p:ph type="sldNum" sz="quarter" idx="4294967295"/>
          </p:nvPr>
        </p:nvSpPr>
        <p:spPr>
          <a:xfrm>
            <a:off x="457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The product </a:t>
            </a:r>
            <a:pPr algn="l" indent="0" marL="0">
              <a:buNone/>
            </a:pPr>
            <a:r>
              <a:rPr lang="en-US" sz="3000" b="1" dirty="0">
                <a:solidFill>
                  <a:schemeClr val="accent2"/>
                </a:solidFill>
              </a:rPr>
              <a:t>in action</a:t>
            </a:r>
            <a:endParaRPr lang="en-US" sz="3000" dirty="0"/>
          </a:p>
        </p:txBody>
      </p:sp>
      <p:sp>
        <p:nvSpPr>
          <p:cNvPr id="3" name="Shot 1 frame"/>
          <p:cNvSpPr/>
          <p:nvPr/>
        </p:nvSpPr>
        <p:spPr>
          <a:xfrm>
            <a:off x="420624" y="1014984"/>
            <a:ext cx="4055872" cy="2313432"/>
          </a:xfrm>
          <a:prstGeom prst="roundRect">
            <a:avLst>
              <a:gd name="adj" fmla="val 3162"/>
            </a:avLst>
          </a:prstGeom>
          <a:solidFill>
            <a:schemeClr val="tx2"/>
          </a:solidFill>
          <a:ln w="19050">
            <a:solidFill>
              <a:schemeClr val="accent1"/>
            </a:solidFill>
            <a:prstDash val="solid"/>
          </a:ln>
        </p:spPr>
      </p:sp>
      <p:pic>
        <p:nvPicPr>
          <p:cNvPr id="4" name="Projector: QR with a rotating room code, live votes, payouts" descr="/Users/aaron/Documents/work/gravity/hackathan/enter-market-deck/src/shots/screen-final.png">    </p:cNvPr>
          <p:cNvPicPr>
            <a:picLocks noChangeAspect="1"/>
          </p:cNvPicPr>
          <p:nvPr/>
        </p:nvPicPr>
        <p:blipFill>
          <a:blip r:embed="rId1"/>
          <a:stretch>
            <a:fillRect/>
          </a:stretch>
        </p:blipFill>
        <p:spPr>
          <a:xfrm>
            <a:off x="457200" y="1051560"/>
            <a:ext cx="3982720" cy="2240280"/>
          </a:xfrm>
          <a:prstGeom prst="rect">
            <a:avLst/>
          </a:prstGeom>
        </p:spPr>
      </p:pic>
      <p:sp>
        <p:nvSpPr>
          <p:cNvPr id="5" name="Shot 1 caption"/>
          <p:cNvSpPr txBox="1"/>
          <p:nvPr/>
        </p:nvSpPr>
        <p:spPr>
          <a:xfrm>
            <a:off x="411480" y="3383280"/>
            <a:ext cx="4074160" cy="457200"/>
          </a:xfrm>
          <a:prstGeom prst="rect">
            <a:avLst/>
          </a:prstGeom>
          <a:noFill/>
          <a:ln/>
        </p:spPr>
        <p:txBody>
          <a:bodyPr wrap="square" lIns="0" tIns="0" rIns="0" bIns="0" rtlCol="0" anchor="t"/>
          <a:lstStyle/>
          <a:p>
            <a:pPr algn="l" indent="0" marL="0">
              <a:buNone/>
            </a:pPr>
            <a:r>
              <a:rPr lang="en-US" sz="1100" dirty="0">
                <a:solidFill>
                  <a:schemeClr val="bg2"/>
                </a:solidFill>
              </a:rPr>
              <a:t>Projector: QR with a rotating room code, live votes, payouts</a:t>
            </a:r>
            <a:endParaRPr lang="en-US" sz="1100" dirty="0"/>
          </a:p>
        </p:txBody>
      </p:sp>
      <p:sp>
        <p:nvSpPr>
          <p:cNvPr id="6" name="Shot 2 frame"/>
          <p:cNvSpPr/>
          <p:nvPr/>
        </p:nvSpPr>
        <p:spPr>
          <a:xfrm>
            <a:off x="4902581" y="1014984"/>
            <a:ext cx="1330198" cy="2313432"/>
          </a:xfrm>
          <a:prstGeom prst="roundRect">
            <a:avLst>
              <a:gd name="adj" fmla="val 5499"/>
            </a:avLst>
          </a:prstGeom>
          <a:solidFill>
            <a:schemeClr val="tx2"/>
          </a:solidFill>
          <a:ln w="19050">
            <a:solidFill>
              <a:schemeClr val="accent1"/>
            </a:solidFill>
            <a:prstDash val="solid"/>
          </a:ln>
        </p:spPr>
      </p:sp>
      <p:pic>
        <p:nvPicPr>
          <p:cNvPr id="7" name="Phone: tap, confirmed in ~2 s, paid" descr="/Users/aaron/Documents/work/gravity/hackathan/enter-market-deck/src/shots/phone-final.png">    </p:cNvPr>
          <p:cNvPicPr>
            <a:picLocks noChangeAspect="1"/>
          </p:cNvPicPr>
          <p:nvPr/>
        </p:nvPicPr>
        <p:blipFill>
          <a:blip r:embed="rId2"/>
          <a:stretch>
            <a:fillRect/>
          </a:stretch>
        </p:blipFill>
        <p:spPr>
          <a:xfrm>
            <a:off x="4939157" y="1051560"/>
            <a:ext cx="1257046" cy="2240280"/>
          </a:xfrm>
          <a:prstGeom prst="rect">
            <a:avLst/>
          </a:prstGeom>
        </p:spPr>
      </p:pic>
      <p:sp>
        <p:nvSpPr>
          <p:cNvPr id="8" name="Shot 2 caption"/>
          <p:cNvSpPr txBox="1"/>
          <p:nvPr/>
        </p:nvSpPr>
        <p:spPr>
          <a:xfrm>
            <a:off x="4893437" y="3383280"/>
            <a:ext cx="1554480" cy="457200"/>
          </a:xfrm>
          <a:prstGeom prst="rect">
            <a:avLst/>
          </a:prstGeom>
          <a:noFill/>
          <a:ln/>
        </p:spPr>
        <p:txBody>
          <a:bodyPr wrap="square" lIns="0" tIns="0" rIns="0" bIns="0" rtlCol="0" anchor="t"/>
          <a:lstStyle/>
          <a:p>
            <a:pPr algn="ctr" indent="0" marL="0">
              <a:buNone/>
            </a:pPr>
            <a:r>
              <a:rPr lang="en-US" sz="1100" dirty="0">
                <a:solidFill>
                  <a:schemeClr val="bg2"/>
                </a:solidFill>
              </a:rPr>
              <a:t>Phone: tap, confirmed in ~2 s, paid</a:t>
            </a:r>
            <a:endParaRPr lang="en-US" sz="1100" dirty="0"/>
          </a:p>
        </p:txBody>
      </p:sp>
      <p:sp>
        <p:nvSpPr>
          <p:cNvPr id="9" name="Shot 3 frame"/>
          <p:cNvSpPr/>
          <p:nvPr/>
        </p:nvSpPr>
        <p:spPr>
          <a:xfrm>
            <a:off x="6658864" y="1014984"/>
            <a:ext cx="2064512" cy="2313432"/>
          </a:xfrm>
          <a:prstGeom prst="roundRect">
            <a:avLst>
              <a:gd name="adj" fmla="val 3543"/>
            </a:avLst>
          </a:prstGeom>
          <a:solidFill>
            <a:schemeClr val="tx2"/>
          </a:solidFill>
          <a:ln w="19050">
            <a:solidFill>
              <a:schemeClr val="accent1"/>
            </a:solidFill>
            <a:prstDash val="solid"/>
          </a:ln>
        </p:spPr>
      </p:sp>
      <p:pic>
        <p:nvPicPr>
          <p:cNvPr id="10" name="Agent: buys the decision over x402, continues with the answer" descr="/Users/aaron/Documents/work/gravity/hackathan/enter-market-deck/src/shots/term-final.png">    </p:cNvPr>
          <p:cNvPicPr>
            <a:picLocks noChangeAspect="1"/>
          </p:cNvPicPr>
          <p:nvPr/>
        </p:nvPicPr>
        <p:blipFill>
          <a:blip r:embed="rId3"/>
          <a:stretch>
            <a:fillRect/>
          </a:stretch>
        </p:blipFill>
        <p:spPr>
          <a:xfrm>
            <a:off x="6695440" y="1051560"/>
            <a:ext cx="1991360" cy="2240280"/>
          </a:xfrm>
          <a:prstGeom prst="rect">
            <a:avLst/>
          </a:prstGeom>
        </p:spPr>
      </p:pic>
      <p:sp>
        <p:nvSpPr>
          <p:cNvPr id="11" name="Shot 3 caption"/>
          <p:cNvSpPr txBox="1"/>
          <p:nvPr/>
        </p:nvSpPr>
        <p:spPr>
          <a:xfrm>
            <a:off x="6649720" y="3383280"/>
            <a:ext cx="2082800" cy="457200"/>
          </a:xfrm>
          <a:prstGeom prst="rect">
            <a:avLst/>
          </a:prstGeom>
          <a:noFill/>
          <a:ln/>
        </p:spPr>
        <p:txBody>
          <a:bodyPr wrap="square" lIns="0" tIns="0" rIns="0" bIns="0" rtlCol="0" anchor="t"/>
          <a:lstStyle/>
          <a:p>
            <a:pPr algn="l" indent="0" marL="0">
              <a:buNone/>
            </a:pPr>
            <a:r>
              <a:rPr lang="en-US" sz="1100" dirty="0">
                <a:solidFill>
                  <a:schemeClr val="bg2"/>
                </a:solidFill>
              </a:rPr>
              <a:t>Agent: buys the decision over x402, continues with the answer</a:t>
            </a:r>
            <a:endParaRPr lang="en-US" sz="1100" dirty="0"/>
          </a:p>
        </p:txBody>
      </p:sp>
      <p:sp>
        <p:nvSpPr>
          <p:cNvPr id="12" name="Highlight 1 card"/>
          <p:cNvSpPr/>
          <p:nvPr/>
        </p:nvSpPr>
        <p:spPr>
          <a:xfrm>
            <a:off x="457200" y="3931920"/>
            <a:ext cx="4023360" cy="749808"/>
          </a:xfrm>
          <a:prstGeom prst="roundRect">
            <a:avLst>
              <a:gd name="adj" fmla="val 14634"/>
            </a:avLst>
          </a:prstGeom>
          <a:solidFill>
            <a:schemeClr val="tx2"/>
          </a:solidFill>
          <a:ln w="15875">
            <a:solidFill>
              <a:schemeClr val="accent2"/>
            </a:solidFill>
            <a:prstDash val="solid"/>
          </a:ln>
        </p:spPr>
      </p:sp>
      <p:sp>
        <p:nvSpPr>
          <p:cNvPr id="13" name="Highlight 1 icon"/>
          <p:cNvSpPr/>
          <p:nvPr/>
        </p:nvSpPr>
        <p:spPr>
          <a:xfrm>
            <a:off x="594360" y="4069080"/>
            <a:ext cx="475488" cy="475488"/>
          </a:xfrm>
          <a:prstGeom prst="ellipse">
            <a:avLst/>
          </a:prstGeom>
          <a:solidFill>
            <a:schemeClr val="accent3"/>
          </a:solidFill>
          <a:ln/>
        </p:spPr>
      </p:sp>
      <p:pic>
        <p:nvPicPr>
          <p:cNvPr id="14" name="Image 3" descr="preencoded.png">    </p:cNvPr>
          <p:cNvPicPr>
            <a:picLocks noChangeAspect="1"/>
          </p:cNvPicPr>
          <p:nvPr/>
        </p:nvPicPr>
        <p:blipFill>
          <a:blip r:embed="rId4"/>
          <a:stretch>
            <a:fillRect/>
          </a:stretch>
        </p:blipFill>
        <p:spPr>
          <a:xfrm>
            <a:off x="698967" y="4173687"/>
            <a:ext cx="266273" cy="266273"/>
          </a:xfrm>
          <a:prstGeom prst="rect">
            <a:avLst/>
          </a:prstGeom>
        </p:spPr>
      </p:pic>
      <p:sp>
        <p:nvSpPr>
          <p:cNvPr id="15" name="Highlight 1"/>
          <p:cNvSpPr txBox="1"/>
          <p:nvPr/>
        </p:nvSpPr>
        <p:spPr>
          <a:xfrm>
            <a:off x="1188720" y="3968496"/>
            <a:ext cx="3200400" cy="676656"/>
          </a:xfrm>
          <a:prstGeom prst="rect">
            <a:avLst/>
          </a:prstGeom>
          <a:noFill/>
          <a:ln/>
        </p:spPr>
        <p:txBody>
          <a:bodyPr wrap="square" lIns="0" tIns="0" rIns="0" bIns="0" rtlCol="0" anchor="ctr"/>
          <a:lstStyle/>
          <a:p>
            <a:pPr indent="0" marL="0">
              <a:buNone/>
            </a:pPr>
            <a:r>
              <a:rPr lang="en-US" sz="1300" b="1" dirty="0">
                <a:solidFill>
                  <a:schemeClr val="bg1"/>
                </a:solidFill>
              </a:rPr>
              <a:t>Real coding agent</a:t>
            </a:r>
            <a:endParaRPr lang="en-US" sz="1300" dirty="0"/>
          </a:p>
          <a:p>
            <a:pPr indent="0" marL="0">
              <a:buNone/>
            </a:pPr>
            <a:r>
              <a:rPr lang="en-US" sz="1100" dirty="0">
                <a:solidFill>
                  <a:schemeClr val="bg2"/>
                </a:solidFill>
              </a:rPr>
              <a:t>A Claude Code hook asks the room before git push (ran live, 2–1 ship)</a:t>
            </a:r>
            <a:endParaRPr lang="en-US" sz="1300" dirty="0"/>
          </a:p>
        </p:txBody>
      </p:sp>
      <p:sp>
        <p:nvSpPr>
          <p:cNvPr id="16" name="Highlight 2 card"/>
          <p:cNvSpPr/>
          <p:nvPr/>
        </p:nvSpPr>
        <p:spPr>
          <a:xfrm>
            <a:off x="4663440" y="3931920"/>
            <a:ext cx="4023360" cy="749808"/>
          </a:xfrm>
          <a:prstGeom prst="roundRect">
            <a:avLst>
              <a:gd name="adj" fmla="val 14634"/>
            </a:avLst>
          </a:prstGeom>
          <a:solidFill>
            <a:schemeClr val="tx2"/>
          </a:solidFill>
          <a:ln w="15875">
            <a:solidFill>
              <a:schemeClr val="accent4"/>
            </a:solidFill>
            <a:prstDash val="solid"/>
          </a:ln>
        </p:spPr>
      </p:sp>
      <p:sp>
        <p:nvSpPr>
          <p:cNvPr id="17" name="Highlight 2 icon"/>
          <p:cNvSpPr/>
          <p:nvPr/>
        </p:nvSpPr>
        <p:spPr>
          <a:xfrm>
            <a:off x="4800600" y="4069080"/>
            <a:ext cx="475488" cy="475488"/>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4905207" y="4173687"/>
            <a:ext cx="266273" cy="266273"/>
          </a:xfrm>
          <a:prstGeom prst="rect">
            <a:avLst/>
          </a:prstGeom>
        </p:spPr>
      </p:pic>
      <p:sp>
        <p:nvSpPr>
          <p:cNvPr id="19" name="Highlight 2"/>
          <p:cNvSpPr txBox="1"/>
          <p:nvPr/>
        </p:nvSpPr>
        <p:spPr>
          <a:xfrm>
            <a:off x="5394960" y="3968496"/>
            <a:ext cx="3200400" cy="676656"/>
          </a:xfrm>
          <a:prstGeom prst="rect">
            <a:avLst/>
          </a:prstGeom>
          <a:noFill/>
          <a:ln/>
        </p:spPr>
        <p:txBody>
          <a:bodyPr wrap="square" lIns="0" tIns="0" rIns="0" bIns="0" rtlCol="0" anchor="ctr"/>
          <a:lstStyle/>
          <a:p>
            <a:pPr indent="0" marL="0">
              <a:buNone/>
            </a:pPr>
            <a:r>
              <a:rPr lang="en-US" sz="1300" b="1" dirty="0">
                <a:solidFill>
                  <a:schemeClr val="bg1"/>
                </a:solidFill>
              </a:rPr>
              <a:t>Not in the room?</a:t>
            </a:r>
            <a:endParaRPr lang="en-US" sz="1300" dirty="0"/>
          </a:p>
          <a:p>
            <a:pPr indent="0" marL="0">
              <a:buNone/>
            </a:pPr>
            <a:r>
              <a:rPr lang="en-US" sz="1100" dirty="0">
                <a:solidFill>
                  <a:schemeClr val="bg2"/>
                </a:solidFill>
              </a:rPr>
              <a:t>enter-market.vercel.app/try runs a solo round in ~15 s</a:t>
            </a:r>
            <a:endParaRPr lang="en-US" sz="1300" dirty="0"/>
          </a:p>
        </p:txBody>
      </p:sp>
      <p:sp>
        <p:nvSpPr>
          <p:cNvPr id="25" name="Slide Number Placeholder 0"/>
          <p:cNvSpPr>
            <a:spLocks noGrp="1"/>
          </p:cNvSpPr>
          <p:nvPr>
            <p:ph type="sldNum" sz="quarter" idx="4294967295"/>
          </p:nvPr>
        </p:nvSpPr>
        <p:spPr>
          <a:xfrm>
            <a:off x="457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How it works: </a:t>
            </a:r>
            <a:pPr algn="l" indent="0" marL="0">
              <a:buNone/>
            </a:pPr>
            <a:r>
              <a:rPr lang="en-US" sz="2400" b="1" dirty="0">
                <a:solidFill>
                  <a:schemeClr val="accent2"/>
                </a:solidFill>
              </a:rPr>
              <a:t>agents hire agents, then humans</a:t>
            </a:r>
            <a:endParaRPr lang="en-US" sz="3000" dirty="0"/>
          </a:p>
        </p:txBody>
      </p:sp>
      <p:sp>
        <p:nvSpPr>
          <p:cNvPr id="3" name="Agent 1 card"/>
          <p:cNvSpPr/>
          <p:nvPr/>
        </p:nvSpPr>
        <p:spPr>
          <a:xfrm>
            <a:off x="457200" y="1051560"/>
            <a:ext cx="2286000" cy="731520"/>
          </a:xfrm>
          <a:prstGeom prst="roundRect">
            <a:avLst>
              <a:gd name="adj" fmla="val 15000"/>
            </a:avLst>
          </a:prstGeom>
          <a:solidFill>
            <a:schemeClr val="tx2"/>
          </a:solidFill>
          <a:ln w="15875">
            <a:solidFill>
              <a:schemeClr val="accent4"/>
            </a:solidFill>
            <a:prstDash val="solid"/>
          </a:ln>
        </p:spPr>
      </p:sp>
      <p:sp>
        <p:nvSpPr>
          <p:cNvPr id="4" name="Agent 1 icon"/>
          <p:cNvSpPr/>
          <p:nvPr/>
        </p:nvSpPr>
        <p:spPr>
          <a:xfrm>
            <a:off x="594360" y="118872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94944" y="1289304"/>
            <a:ext cx="256032" cy="256032"/>
          </a:xfrm>
          <a:prstGeom prst="rect">
            <a:avLst/>
          </a:prstGeom>
        </p:spPr>
      </p:pic>
      <p:sp>
        <p:nvSpPr>
          <p:cNvPr id="6" name="Text 3"/>
          <p:cNvSpPr txBox="1"/>
          <p:nvPr/>
        </p:nvSpPr>
        <p:spPr>
          <a:xfrm>
            <a:off x="1170432" y="1106424"/>
            <a:ext cx="1508760" cy="621792"/>
          </a:xfrm>
          <a:prstGeom prst="rect">
            <a:avLst/>
          </a:prstGeom>
          <a:noFill/>
          <a:ln/>
        </p:spPr>
        <p:txBody>
          <a:bodyPr wrap="square" lIns="0" tIns="0" rIns="0" bIns="0" rtlCol="0" anchor="ctr"/>
          <a:lstStyle/>
          <a:p>
            <a:pPr indent="0" marL="0">
              <a:buNone/>
            </a:pPr>
            <a:r>
              <a:rPr lang="en-US" sz="1400" b="1" dirty="0">
                <a:solidFill>
                  <a:schemeClr val="bg1"/>
                </a:solidFill>
              </a:rPr>
              <a:t>Client agent</a:t>
            </a:r>
            <a:endParaRPr lang="en-US" sz="1400" dirty="0"/>
          </a:p>
          <a:p>
            <a:pPr indent="0" marL="0">
              <a:buNone/>
            </a:pPr>
            <a:r>
              <a:rPr lang="en-US" sz="1200" dirty="0">
                <a:solidFill>
                  <a:schemeClr val="bg2"/>
                </a:solidFill>
              </a:rPr>
              <a:t>hits a decision</a:t>
            </a:r>
            <a:endParaRPr lang="en-US" sz="1400" dirty="0"/>
          </a:p>
        </p:txBody>
      </p:sp>
      <p:sp>
        <p:nvSpPr>
          <p:cNvPr id="7" name="x402 label 1"/>
          <p:cNvSpPr txBox="1"/>
          <p:nvPr/>
        </p:nvSpPr>
        <p:spPr>
          <a:xfrm>
            <a:off x="2743200" y="1106424"/>
            <a:ext cx="685800" cy="256032"/>
          </a:xfrm>
          <a:prstGeom prst="rect">
            <a:avLst/>
          </a:prstGeom>
          <a:noFill/>
          <a:ln/>
        </p:spPr>
        <p:txBody>
          <a:bodyPr wrap="square" lIns="0" tIns="0" rIns="0" bIns="0" rtlCol="0" anchor="ctr"/>
          <a:lstStyle/>
          <a:p>
            <a:pPr algn="ctr" indent="0" marL="0">
              <a:buNone/>
            </a:pPr>
            <a:r>
              <a:rPr lang="en-US" sz="1000" b="1" dirty="0">
                <a:solidFill>
                  <a:schemeClr val="accent6"/>
                </a:solidFill>
              </a:rPr>
              <a:t>$0.02 x402</a:t>
            </a:r>
            <a:endParaRPr lang="en-US" sz="1000" dirty="0"/>
          </a:p>
        </p:txBody>
      </p:sp>
      <p:sp>
        <p:nvSpPr>
          <p:cNvPr id="8" name="x402 arrow 1"/>
          <p:cNvSpPr/>
          <p:nvPr/>
        </p:nvSpPr>
        <p:spPr>
          <a:xfrm>
            <a:off x="2816352" y="1417320"/>
            <a:ext cx="539496" cy="0"/>
          </a:xfrm>
          <a:prstGeom prst="line">
            <a:avLst/>
          </a:prstGeom>
          <a:noFill/>
          <a:ln w="25400">
            <a:solidFill>
              <a:schemeClr val="accent6"/>
            </a:solidFill>
            <a:prstDash val="solid"/>
            <a:tailEnd type="triangle"/>
          </a:ln>
        </p:spPr>
      </p:sp>
      <p:sp>
        <p:nvSpPr>
          <p:cNvPr id="9" name="Agent 2 card"/>
          <p:cNvSpPr/>
          <p:nvPr/>
        </p:nvSpPr>
        <p:spPr>
          <a:xfrm>
            <a:off x="3429000" y="1051560"/>
            <a:ext cx="2286000" cy="731520"/>
          </a:xfrm>
          <a:prstGeom prst="roundRect">
            <a:avLst>
              <a:gd name="adj" fmla="val 15000"/>
            </a:avLst>
          </a:prstGeom>
          <a:solidFill>
            <a:schemeClr val="tx2"/>
          </a:solidFill>
          <a:ln w="15875">
            <a:solidFill>
              <a:schemeClr val="accent4"/>
            </a:solidFill>
            <a:prstDash val="solid"/>
          </a:ln>
        </p:spPr>
      </p:sp>
      <p:sp>
        <p:nvSpPr>
          <p:cNvPr id="10" name="Agent 2 icon"/>
          <p:cNvSpPr/>
          <p:nvPr/>
        </p:nvSpPr>
        <p:spPr>
          <a:xfrm>
            <a:off x="3566160" y="1188720"/>
            <a:ext cx="457200" cy="4572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666744" y="1289304"/>
            <a:ext cx="256032" cy="256032"/>
          </a:xfrm>
          <a:prstGeom prst="rect">
            <a:avLst/>
          </a:prstGeom>
        </p:spPr>
      </p:pic>
      <p:sp>
        <p:nvSpPr>
          <p:cNvPr id="12" name="Text 8"/>
          <p:cNvSpPr txBox="1"/>
          <p:nvPr/>
        </p:nvSpPr>
        <p:spPr>
          <a:xfrm>
            <a:off x="4142232" y="1106424"/>
            <a:ext cx="1508760" cy="621792"/>
          </a:xfrm>
          <a:prstGeom prst="rect">
            <a:avLst/>
          </a:prstGeom>
          <a:noFill/>
          <a:ln/>
        </p:spPr>
        <p:txBody>
          <a:bodyPr wrap="square" lIns="0" tIns="0" rIns="0" bIns="0" rtlCol="0" anchor="ctr"/>
          <a:lstStyle/>
          <a:p>
            <a:pPr indent="0" marL="0">
              <a:buNone/>
            </a:pPr>
            <a:r>
              <a:rPr lang="en-US" sz="1400" b="1" dirty="0">
                <a:solidFill>
                  <a:schemeClr val="bg1"/>
                </a:solidFill>
              </a:rPr>
              <a:t>Contractor agent</a:t>
            </a:r>
            <a:endParaRPr lang="en-US" sz="1400" dirty="0"/>
          </a:p>
          <a:p>
            <a:pPr indent="0" marL="0">
              <a:buNone/>
            </a:pPr>
            <a:r>
              <a:rPr lang="en-US" sz="1200" dirty="0">
                <a:solidFill>
                  <a:schemeClr val="bg2"/>
                </a:solidFill>
              </a:rPr>
              <a:t>keeps $0.01</a:t>
            </a:r>
            <a:endParaRPr lang="en-US" sz="1400" dirty="0"/>
          </a:p>
        </p:txBody>
      </p:sp>
      <p:sp>
        <p:nvSpPr>
          <p:cNvPr id="13" name="x402 label 2"/>
          <p:cNvSpPr txBox="1"/>
          <p:nvPr/>
        </p:nvSpPr>
        <p:spPr>
          <a:xfrm>
            <a:off x="5715000" y="1106424"/>
            <a:ext cx="685800" cy="256032"/>
          </a:xfrm>
          <a:prstGeom prst="rect">
            <a:avLst/>
          </a:prstGeom>
          <a:noFill/>
          <a:ln/>
        </p:spPr>
        <p:txBody>
          <a:bodyPr wrap="square" lIns="0" tIns="0" rIns="0" bIns="0" rtlCol="0" anchor="ctr"/>
          <a:lstStyle/>
          <a:p>
            <a:pPr algn="ctr" indent="0" marL="0">
              <a:buNone/>
            </a:pPr>
            <a:r>
              <a:rPr lang="en-US" sz="1000" b="1" dirty="0">
                <a:solidFill>
                  <a:schemeClr val="accent6"/>
                </a:solidFill>
              </a:rPr>
              <a:t>$0.01 x402</a:t>
            </a:r>
            <a:endParaRPr lang="en-US" sz="1000" dirty="0"/>
          </a:p>
        </p:txBody>
      </p:sp>
      <p:sp>
        <p:nvSpPr>
          <p:cNvPr id="14" name="x402 arrow 2"/>
          <p:cNvSpPr/>
          <p:nvPr/>
        </p:nvSpPr>
        <p:spPr>
          <a:xfrm>
            <a:off x="5788152" y="1417320"/>
            <a:ext cx="539496" cy="0"/>
          </a:xfrm>
          <a:prstGeom prst="line">
            <a:avLst/>
          </a:prstGeom>
          <a:noFill/>
          <a:ln w="25400">
            <a:solidFill>
              <a:schemeClr val="accent6"/>
            </a:solidFill>
            <a:prstDash val="solid"/>
            <a:tailEnd type="triangle"/>
          </a:ln>
        </p:spPr>
      </p:sp>
      <p:sp>
        <p:nvSpPr>
          <p:cNvPr id="15" name="Agent 3 card"/>
          <p:cNvSpPr/>
          <p:nvPr/>
        </p:nvSpPr>
        <p:spPr>
          <a:xfrm>
            <a:off x="6400800" y="1051560"/>
            <a:ext cx="2286000" cy="731520"/>
          </a:xfrm>
          <a:prstGeom prst="roundRect">
            <a:avLst>
              <a:gd name="adj" fmla="val 15000"/>
            </a:avLst>
          </a:prstGeom>
          <a:solidFill>
            <a:schemeClr val="tx2"/>
          </a:solidFill>
          <a:ln w="15875">
            <a:solidFill>
              <a:schemeClr val="accent4"/>
            </a:solidFill>
            <a:prstDash val="solid"/>
          </a:ln>
        </p:spPr>
      </p:sp>
      <p:sp>
        <p:nvSpPr>
          <p:cNvPr id="16" name="Agent 3 icon"/>
          <p:cNvSpPr/>
          <p:nvPr/>
        </p:nvSpPr>
        <p:spPr>
          <a:xfrm>
            <a:off x="6537960" y="1188720"/>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638544" y="1289304"/>
            <a:ext cx="256032" cy="256032"/>
          </a:xfrm>
          <a:prstGeom prst="rect">
            <a:avLst/>
          </a:prstGeom>
        </p:spPr>
      </p:pic>
      <p:sp>
        <p:nvSpPr>
          <p:cNvPr id="18" name="Text 13"/>
          <p:cNvSpPr txBox="1"/>
          <p:nvPr/>
        </p:nvSpPr>
        <p:spPr>
          <a:xfrm>
            <a:off x="7114032" y="1106424"/>
            <a:ext cx="1508760" cy="621792"/>
          </a:xfrm>
          <a:prstGeom prst="rect">
            <a:avLst/>
          </a:prstGeom>
          <a:noFill/>
          <a:ln/>
        </p:spPr>
        <p:txBody>
          <a:bodyPr wrap="square" lIns="0" tIns="0" rIns="0" bIns="0" rtlCol="0" anchor="ctr"/>
          <a:lstStyle/>
          <a:p>
            <a:pPr indent="0" marL="0">
              <a:buNone/>
            </a:pPr>
            <a:r>
              <a:rPr lang="en-US" sz="1400" b="1" dirty="0">
                <a:solidFill>
                  <a:schemeClr val="bg1"/>
                </a:solidFill>
              </a:rPr>
              <a:t>Local agent</a:t>
            </a:r>
            <a:endParaRPr lang="en-US" sz="1400" dirty="0"/>
          </a:p>
          <a:p>
            <a:pPr indent="0" marL="0">
              <a:buNone/>
            </a:pPr>
            <a:r>
              <a:rPr lang="en-US" sz="1200" dirty="0">
                <a:solidFill>
                  <a:schemeClr val="bg2"/>
                </a:solidFill>
              </a:rPr>
              <a:t>escrows 0.1 MON</a:t>
            </a:r>
            <a:endParaRPr lang="en-US" sz="1400" dirty="0"/>
          </a:p>
        </p:txBody>
      </p:sp>
      <p:sp>
        <p:nvSpPr>
          <p:cNvPr id="19" name="Escrow arrow"/>
          <p:cNvSpPr/>
          <p:nvPr/>
        </p:nvSpPr>
        <p:spPr>
          <a:xfrm>
            <a:off x="7543800" y="1819656"/>
            <a:ext cx="0" cy="292608"/>
          </a:xfrm>
          <a:prstGeom prst="line">
            <a:avLst/>
          </a:prstGeom>
          <a:noFill/>
          <a:ln w="25400">
            <a:solidFill>
              <a:schemeClr val="accent1"/>
            </a:solidFill>
            <a:prstDash val="solid"/>
            <a:tailEnd type="triangle"/>
          </a:ln>
        </p:spPr>
      </p:sp>
      <p:sp>
        <p:nvSpPr>
          <p:cNvPr id="20" name="Escrow label"/>
          <p:cNvSpPr txBox="1"/>
          <p:nvPr/>
        </p:nvSpPr>
        <p:spPr>
          <a:xfrm>
            <a:off x="7653528" y="1828800"/>
            <a:ext cx="1463040" cy="274320"/>
          </a:xfrm>
          <a:prstGeom prst="rect">
            <a:avLst/>
          </a:prstGeom>
          <a:noFill/>
          <a:ln/>
        </p:spPr>
        <p:txBody>
          <a:bodyPr wrap="square" lIns="0" tIns="0" rIns="0" bIns="0" rtlCol="0" anchor="ctr"/>
          <a:lstStyle/>
          <a:p>
            <a:pPr indent="0" marL="0">
              <a:buNone/>
            </a:pPr>
            <a:r>
              <a:rPr lang="en-US" sz="1000" dirty="0">
                <a:solidFill>
                  <a:schemeClr val="accent5"/>
                </a:solidFill>
              </a:rPr>
              <a:t>ask() on Monad</a:t>
            </a:r>
            <a:endParaRPr lang="en-US" sz="1000" dirty="0"/>
          </a:p>
        </p:txBody>
      </p:sp>
      <p:sp>
        <p:nvSpPr>
          <p:cNvPr id="21" name="Room step 1 card"/>
          <p:cNvSpPr/>
          <p:nvPr/>
        </p:nvSpPr>
        <p:spPr>
          <a:xfrm>
            <a:off x="457200" y="2148840"/>
            <a:ext cx="1828800" cy="914400"/>
          </a:xfrm>
          <a:prstGeom prst="roundRect">
            <a:avLst>
              <a:gd name="adj" fmla="val 12000"/>
            </a:avLst>
          </a:prstGeom>
          <a:solidFill>
            <a:schemeClr val="tx2"/>
          </a:solidFill>
          <a:ln w="15875">
            <a:solidFill>
              <a:schemeClr val="accent2"/>
            </a:solidFill>
            <a:prstDash val="solid"/>
          </a:ln>
        </p:spPr>
      </p:sp>
      <p:sp>
        <p:nvSpPr>
          <p:cNvPr id="22" name="Room step 1 icon"/>
          <p:cNvSpPr/>
          <p:nvPr/>
        </p:nvSpPr>
        <p:spPr>
          <a:xfrm>
            <a:off x="1179576" y="2221992"/>
            <a:ext cx="384048" cy="384048"/>
          </a:xfrm>
          <a:prstGeom prst="ellipse">
            <a:avLst/>
          </a:prstGeom>
          <a:solidFill>
            <a:schemeClr val="accent3"/>
          </a:solidFill>
          <a:ln/>
        </p:spPr>
      </p:sp>
      <p:pic>
        <p:nvPicPr>
          <p:cNvPr id="23" name="Image 3" descr="preencoded.png">    </p:cNvPr>
          <p:cNvPicPr>
            <a:picLocks noChangeAspect="1"/>
          </p:cNvPicPr>
          <p:nvPr/>
        </p:nvPicPr>
        <p:blipFill>
          <a:blip r:embed="rId4"/>
          <a:stretch>
            <a:fillRect/>
          </a:stretch>
        </p:blipFill>
        <p:spPr>
          <a:xfrm>
            <a:off x="1264067" y="2306483"/>
            <a:ext cx="215067" cy="215067"/>
          </a:xfrm>
          <a:prstGeom prst="rect">
            <a:avLst/>
          </a:prstGeom>
        </p:spPr>
      </p:pic>
      <p:sp>
        <p:nvSpPr>
          <p:cNvPr id="24" name="Text 18"/>
          <p:cNvSpPr txBox="1"/>
          <p:nvPr/>
        </p:nvSpPr>
        <p:spPr>
          <a:xfrm>
            <a:off x="530352" y="2624328"/>
            <a:ext cx="1682496" cy="411480"/>
          </a:xfrm>
          <a:prstGeom prst="rect">
            <a:avLst/>
          </a:prstGeom>
          <a:noFill/>
          <a:ln/>
        </p:spPr>
        <p:txBody>
          <a:bodyPr wrap="square" lIns="0" tIns="0" rIns="0" bIns="0" rtlCol="0" anchor="t"/>
          <a:lstStyle/>
          <a:p>
            <a:pPr algn="ctr" indent="0" marL="0">
              <a:buNone/>
            </a:pPr>
            <a:r>
              <a:rPr lang="en-US" sz="1300" b="1" dirty="0">
                <a:solidFill>
                  <a:schemeClr val="bg1"/>
                </a:solidFill>
              </a:rPr>
              <a:t>Agent continues</a:t>
            </a:r>
            <a:endParaRPr lang="en-US" sz="1300" dirty="0"/>
          </a:p>
          <a:p>
            <a:pPr algn="ctr" indent="0" marL="0">
              <a:buNone/>
            </a:pPr>
            <a:r>
              <a:rPr lang="en-US" sz="1100" dirty="0">
                <a:solidFill>
                  <a:schemeClr val="bg2"/>
                </a:solidFill>
              </a:rPr>
              <a:t>with the crowd's choice</a:t>
            </a:r>
            <a:endParaRPr lang="en-US" sz="1300" dirty="0"/>
          </a:p>
        </p:txBody>
      </p:sp>
      <p:sp>
        <p:nvSpPr>
          <p:cNvPr id="25" name="Room arrow 1"/>
          <p:cNvSpPr/>
          <p:nvPr/>
        </p:nvSpPr>
        <p:spPr>
          <a:xfrm>
            <a:off x="2331720" y="2606040"/>
            <a:ext cx="213360" cy="0"/>
          </a:xfrm>
          <a:prstGeom prst="line">
            <a:avLst/>
          </a:prstGeom>
          <a:noFill/>
          <a:ln w="25400">
            <a:solidFill>
              <a:schemeClr val="accent1"/>
            </a:solidFill>
            <a:prstDash val="solid"/>
            <a:headEnd type="triangle"/>
          </a:ln>
        </p:spPr>
      </p:sp>
      <p:sp>
        <p:nvSpPr>
          <p:cNvPr id="26" name="Room step 2 card"/>
          <p:cNvSpPr/>
          <p:nvPr/>
        </p:nvSpPr>
        <p:spPr>
          <a:xfrm>
            <a:off x="2590800" y="2148840"/>
            <a:ext cx="1828800" cy="914400"/>
          </a:xfrm>
          <a:prstGeom prst="roundRect">
            <a:avLst>
              <a:gd name="adj" fmla="val 12000"/>
            </a:avLst>
          </a:prstGeom>
          <a:solidFill>
            <a:schemeClr val="tx2"/>
          </a:solidFill>
          <a:ln w="15875">
            <a:solidFill>
              <a:schemeClr val="accent4"/>
            </a:solidFill>
            <a:prstDash val="solid"/>
          </a:ln>
        </p:spPr>
      </p:sp>
      <p:sp>
        <p:nvSpPr>
          <p:cNvPr id="27" name="Room step 2 icon"/>
          <p:cNvSpPr/>
          <p:nvPr/>
        </p:nvSpPr>
        <p:spPr>
          <a:xfrm>
            <a:off x="3313176" y="2221992"/>
            <a:ext cx="384048" cy="384048"/>
          </a:xfrm>
          <a:prstGeom prst="ellipse">
            <a:avLst/>
          </a:prstGeom>
          <a:solidFill>
            <a:schemeClr val="accent1"/>
          </a:solidFill>
          <a:ln/>
        </p:spPr>
      </p:sp>
      <p:pic>
        <p:nvPicPr>
          <p:cNvPr id="28" name="Image 4" descr="preencoded.png">    </p:cNvPr>
          <p:cNvPicPr>
            <a:picLocks noChangeAspect="1"/>
          </p:cNvPicPr>
          <p:nvPr/>
        </p:nvPicPr>
        <p:blipFill>
          <a:blip r:embed="rId5"/>
          <a:stretch>
            <a:fillRect/>
          </a:stretch>
        </p:blipFill>
        <p:spPr>
          <a:xfrm>
            <a:off x="3397667" y="2306483"/>
            <a:ext cx="215067" cy="215067"/>
          </a:xfrm>
          <a:prstGeom prst="rect">
            <a:avLst/>
          </a:prstGeom>
        </p:spPr>
      </p:pic>
      <p:sp>
        <p:nvSpPr>
          <p:cNvPr id="29" name="Text 22"/>
          <p:cNvSpPr txBox="1"/>
          <p:nvPr/>
        </p:nvSpPr>
        <p:spPr>
          <a:xfrm>
            <a:off x="2663952" y="2624328"/>
            <a:ext cx="1682496" cy="411480"/>
          </a:xfrm>
          <a:prstGeom prst="rect">
            <a:avLst/>
          </a:prstGeom>
          <a:noFill/>
          <a:ln/>
        </p:spPr>
        <p:txBody>
          <a:bodyPr wrap="square" lIns="0" tIns="0" rIns="0" bIns="0" rtlCol="0" anchor="t"/>
          <a:lstStyle/>
          <a:p>
            <a:pPr algn="ctr" indent="0" marL="0">
              <a:buNone/>
            </a:pPr>
            <a:r>
              <a:rPr lang="en-US" sz="1300" b="1" dirty="0">
                <a:solidFill>
                  <a:schemeClr val="bg1"/>
                </a:solidFill>
              </a:rPr>
              <a:t>Batch payout</a:t>
            </a:r>
            <a:endParaRPr lang="en-US" sz="1300" dirty="0"/>
          </a:p>
          <a:p>
            <a:pPr algn="ctr" indent="0" marL="0">
              <a:buNone/>
            </a:pPr>
            <a:r>
              <a:rPr lang="en-US" sz="1100" dirty="0">
                <a:solidFill>
                  <a:schemeClr val="bg2"/>
                </a:solidFill>
              </a:rPr>
              <a:t>one tx pays every winner</a:t>
            </a:r>
            <a:endParaRPr lang="en-US" sz="1300" dirty="0"/>
          </a:p>
        </p:txBody>
      </p:sp>
      <p:sp>
        <p:nvSpPr>
          <p:cNvPr id="30" name="Room arrow 2"/>
          <p:cNvSpPr/>
          <p:nvPr/>
        </p:nvSpPr>
        <p:spPr>
          <a:xfrm>
            <a:off x="4465320" y="2606040"/>
            <a:ext cx="213360" cy="0"/>
          </a:xfrm>
          <a:prstGeom prst="line">
            <a:avLst/>
          </a:prstGeom>
          <a:noFill/>
          <a:ln w="25400">
            <a:solidFill>
              <a:schemeClr val="accent1"/>
            </a:solidFill>
            <a:prstDash val="solid"/>
            <a:headEnd type="triangle"/>
          </a:ln>
        </p:spPr>
      </p:sp>
      <p:sp>
        <p:nvSpPr>
          <p:cNvPr id="31" name="Room step 3 card"/>
          <p:cNvSpPr/>
          <p:nvPr/>
        </p:nvSpPr>
        <p:spPr>
          <a:xfrm>
            <a:off x="4724400" y="2148840"/>
            <a:ext cx="1828800" cy="914400"/>
          </a:xfrm>
          <a:prstGeom prst="roundRect">
            <a:avLst>
              <a:gd name="adj" fmla="val 12000"/>
            </a:avLst>
          </a:prstGeom>
          <a:solidFill>
            <a:schemeClr val="tx2"/>
          </a:solidFill>
          <a:ln w="15875">
            <a:solidFill>
              <a:schemeClr val="accent4"/>
            </a:solidFill>
            <a:prstDash val="solid"/>
          </a:ln>
        </p:spPr>
      </p:sp>
      <p:sp>
        <p:nvSpPr>
          <p:cNvPr id="32" name="Room step 3 icon"/>
          <p:cNvSpPr/>
          <p:nvPr/>
        </p:nvSpPr>
        <p:spPr>
          <a:xfrm>
            <a:off x="5446776" y="2221992"/>
            <a:ext cx="384048" cy="384048"/>
          </a:xfrm>
          <a:prstGeom prst="ellipse">
            <a:avLst/>
          </a:prstGeom>
          <a:solidFill>
            <a:schemeClr val="accent1"/>
          </a:solidFill>
          <a:ln/>
        </p:spPr>
      </p:sp>
      <p:pic>
        <p:nvPicPr>
          <p:cNvPr id="33" name="Image 5" descr="preencoded.png">    </p:cNvPr>
          <p:cNvPicPr>
            <a:picLocks noChangeAspect="1"/>
          </p:cNvPicPr>
          <p:nvPr/>
        </p:nvPicPr>
        <p:blipFill>
          <a:blip r:embed="rId6"/>
          <a:stretch>
            <a:fillRect/>
          </a:stretch>
        </p:blipFill>
        <p:spPr>
          <a:xfrm>
            <a:off x="5531267" y="2306483"/>
            <a:ext cx="215067" cy="215067"/>
          </a:xfrm>
          <a:prstGeom prst="rect">
            <a:avLst/>
          </a:prstGeom>
        </p:spPr>
      </p:pic>
      <p:sp>
        <p:nvSpPr>
          <p:cNvPr id="34" name="Text 26"/>
          <p:cNvSpPr txBox="1"/>
          <p:nvPr/>
        </p:nvSpPr>
        <p:spPr>
          <a:xfrm>
            <a:off x="4797552" y="2624328"/>
            <a:ext cx="1682496" cy="411480"/>
          </a:xfrm>
          <a:prstGeom prst="rect">
            <a:avLst/>
          </a:prstGeom>
          <a:noFill/>
          <a:ln/>
        </p:spPr>
        <p:txBody>
          <a:bodyPr wrap="square" lIns="0" tIns="0" rIns="0" bIns="0" rtlCol="0" anchor="t"/>
          <a:lstStyle/>
          <a:p>
            <a:pPr algn="ctr" indent="0" marL="0">
              <a:buNone/>
            </a:pPr>
            <a:r>
              <a:rPr lang="en-US" sz="1300" b="1" dirty="0">
                <a:solidFill>
                  <a:schemeClr val="bg1"/>
                </a:solidFill>
              </a:rPr>
              <a:t>Quorum</a:t>
            </a:r>
            <a:endParaRPr lang="en-US" sz="1300" dirty="0"/>
          </a:p>
          <a:p>
            <a:pPr algn="ctr" indent="0" marL="0">
              <a:buNone/>
            </a:pPr>
            <a:r>
              <a:rPr lang="en-US" sz="1100" dirty="0">
                <a:solidFill>
                  <a:schemeClr val="bg2"/>
                </a:solidFill>
              </a:rPr>
              <a:t>majority wins, onchain</a:t>
            </a:r>
            <a:endParaRPr lang="en-US" sz="1300" dirty="0"/>
          </a:p>
        </p:txBody>
      </p:sp>
      <p:sp>
        <p:nvSpPr>
          <p:cNvPr id="35" name="Room arrow 3"/>
          <p:cNvSpPr/>
          <p:nvPr/>
        </p:nvSpPr>
        <p:spPr>
          <a:xfrm>
            <a:off x="6598920" y="2606040"/>
            <a:ext cx="213360" cy="0"/>
          </a:xfrm>
          <a:prstGeom prst="line">
            <a:avLst/>
          </a:prstGeom>
          <a:noFill/>
          <a:ln w="25400">
            <a:solidFill>
              <a:schemeClr val="accent1"/>
            </a:solidFill>
            <a:prstDash val="solid"/>
            <a:headEnd type="triangle"/>
          </a:ln>
        </p:spPr>
      </p:sp>
      <p:sp>
        <p:nvSpPr>
          <p:cNvPr id="36" name="Room step 4 card"/>
          <p:cNvSpPr/>
          <p:nvPr/>
        </p:nvSpPr>
        <p:spPr>
          <a:xfrm>
            <a:off x="6858000" y="2148840"/>
            <a:ext cx="1828800" cy="914400"/>
          </a:xfrm>
          <a:prstGeom prst="roundRect">
            <a:avLst>
              <a:gd name="adj" fmla="val 12000"/>
            </a:avLst>
          </a:prstGeom>
          <a:solidFill>
            <a:schemeClr val="tx2"/>
          </a:solidFill>
          <a:ln w="15875">
            <a:solidFill>
              <a:schemeClr val="accent4"/>
            </a:solidFill>
            <a:prstDash val="solid"/>
          </a:ln>
        </p:spPr>
      </p:sp>
      <p:sp>
        <p:nvSpPr>
          <p:cNvPr id="37" name="Room step 4 icon"/>
          <p:cNvSpPr/>
          <p:nvPr/>
        </p:nvSpPr>
        <p:spPr>
          <a:xfrm>
            <a:off x="7580376" y="2221992"/>
            <a:ext cx="384048" cy="384048"/>
          </a:xfrm>
          <a:prstGeom prst="ellipse">
            <a:avLst/>
          </a:prstGeom>
          <a:solidFill>
            <a:schemeClr val="accent1"/>
          </a:solidFill>
          <a:ln/>
        </p:spPr>
      </p:sp>
      <p:pic>
        <p:nvPicPr>
          <p:cNvPr id="38" name="Image 6" descr="preencoded.png">    </p:cNvPr>
          <p:cNvPicPr>
            <a:picLocks noChangeAspect="1"/>
          </p:cNvPicPr>
          <p:nvPr/>
        </p:nvPicPr>
        <p:blipFill>
          <a:blip r:embed="rId7"/>
          <a:stretch>
            <a:fillRect/>
          </a:stretch>
        </p:blipFill>
        <p:spPr>
          <a:xfrm>
            <a:off x="7664867" y="2306483"/>
            <a:ext cx="215067" cy="215067"/>
          </a:xfrm>
          <a:prstGeom prst="rect">
            <a:avLst/>
          </a:prstGeom>
        </p:spPr>
      </p:pic>
      <p:sp>
        <p:nvSpPr>
          <p:cNvPr id="39" name="Text 30"/>
          <p:cNvSpPr txBox="1"/>
          <p:nvPr/>
        </p:nvSpPr>
        <p:spPr>
          <a:xfrm>
            <a:off x="6931152" y="2624328"/>
            <a:ext cx="1682496" cy="411480"/>
          </a:xfrm>
          <a:prstGeom prst="rect">
            <a:avLst/>
          </a:prstGeom>
          <a:noFill/>
          <a:ln/>
        </p:spPr>
        <p:txBody>
          <a:bodyPr wrap="square" lIns="0" tIns="0" rIns="0" bIns="0" rtlCol="0" anchor="t"/>
          <a:lstStyle/>
          <a:p>
            <a:pPr algn="ctr" indent="0" marL="0">
              <a:buNone/>
            </a:pPr>
            <a:r>
              <a:rPr lang="en-US" sz="1300" b="1" dirty="0">
                <a:solidFill>
                  <a:schemeClr val="bg1"/>
                </a:solidFill>
              </a:rPr>
              <a:t>Room taps</a:t>
            </a:r>
            <a:endParaRPr lang="en-US" sz="1300" dirty="0"/>
          </a:p>
          <a:p>
            <a:pPr algn="ctr" indent="0" marL="0">
              <a:buNone/>
            </a:pPr>
            <a:r>
              <a:rPr lang="en-US" sz="1100" dirty="0">
                <a:solidFill>
                  <a:schemeClr val="bg2"/>
                </a:solidFill>
              </a:rPr>
              <a:t>pass + burner phone</a:t>
            </a:r>
            <a:endParaRPr lang="en-US" sz="1300" dirty="0"/>
          </a:p>
        </p:txBody>
      </p:sp>
      <p:sp>
        <p:nvSpPr>
          <p:cNvPr id="40" name="Trust card"/>
          <p:cNvSpPr/>
          <p:nvPr/>
        </p:nvSpPr>
        <p:spPr>
          <a:xfrm>
            <a:off x="457200" y="3337560"/>
            <a:ext cx="4023360" cy="1097280"/>
          </a:xfrm>
          <a:prstGeom prst="roundRect">
            <a:avLst>
              <a:gd name="adj" fmla="val 10000"/>
            </a:avLst>
          </a:prstGeom>
          <a:solidFill>
            <a:schemeClr val="tx2"/>
          </a:solidFill>
          <a:ln w="15875">
            <a:solidFill>
              <a:schemeClr val="accent1"/>
            </a:solidFill>
            <a:prstDash val="solid"/>
          </a:ln>
        </p:spPr>
      </p:sp>
      <p:pic>
        <p:nvPicPr>
          <p:cNvPr id="41" name="Image 7" descr="preencoded.png">    </p:cNvPr>
          <p:cNvPicPr>
            <a:picLocks noChangeAspect="1"/>
          </p:cNvPicPr>
          <p:nvPr/>
        </p:nvPicPr>
        <p:blipFill>
          <a:blip r:embed="rId8"/>
          <a:stretch>
            <a:fillRect/>
          </a:stretch>
        </p:blipFill>
        <p:spPr>
          <a:xfrm>
            <a:off x="640080" y="3493008"/>
            <a:ext cx="329184" cy="329184"/>
          </a:xfrm>
          <a:prstGeom prst="rect">
            <a:avLst/>
          </a:prstGeom>
        </p:spPr>
      </p:pic>
      <p:sp>
        <p:nvSpPr>
          <p:cNvPr id="42" name="Trust head"/>
          <p:cNvSpPr txBox="1"/>
          <p:nvPr/>
        </p:nvSpPr>
        <p:spPr>
          <a:xfrm>
            <a:off x="1097280" y="3474720"/>
            <a:ext cx="3200400" cy="365760"/>
          </a:xfrm>
          <a:prstGeom prst="rect">
            <a:avLst/>
          </a:prstGeom>
          <a:noFill/>
          <a:ln/>
        </p:spPr>
        <p:txBody>
          <a:bodyPr wrap="square" lIns="0" tIns="0" rIns="0" bIns="0" rtlCol="0" anchor="ctr"/>
          <a:lstStyle/>
          <a:p>
            <a:pPr indent="0" marL="0">
              <a:buNone/>
            </a:pPr>
            <a:r>
              <a:rPr lang="en-US" sz="1500" b="1" dirty="0">
                <a:solidFill>
                  <a:schemeClr val="accent2"/>
                </a:solidFill>
              </a:rPr>
              <a:t>Trust</a:t>
            </a:r>
            <a:endParaRPr lang="en-US" sz="1500" dirty="0"/>
          </a:p>
        </p:txBody>
      </p:sp>
      <p:sp>
        <p:nvSpPr>
          <p:cNvPr id="43" name="Trust text"/>
          <p:cNvSpPr txBox="1"/>
          <p:nvPr/>
        </p:nvSpPr>
        <p:spPr>
          <a:xfrm>
            <a:off x="640080" y="3904488"/>
            <a:ext cx="3657600" cy="603504"/>
          </a:xfrm>
          <a:prstGeom prst="rect">
            <a:avLst/>
          </a:prstGeom>
          <a:noFill/>
          <a:ln/>
        </p:spPr>
        <p:txBody>
          <a:bodyPr wrap="square" lIns="0" tIns="0" rIns="0" bIns="0" rtlCol="0" anchor="t"/>
          <a:lstStyle/>
          <a:p>
            <a:pPr indent="0" marL="0">
              <a:buNone/>
            </a:pPr>
            <a:r>
              <a:rPr lang="en-US" sz="1200" dirty="0">
                <a:solidFill>
                  <a:schemeClr val="bg1"/>
                </a:solidFill>
              </a:rPr>
              <a:t>Room-code pass checked onchain · one-time invite codes · proof of personhood next</a:t>
            </a:r>
            <a:endParaRPr lang="en-US" sz="1200" dirty="0"/>
          </a:p>
        </p:txBody>
      </p:sp>
      <p:sp>
        <p:nvSpPr>
          <p:cNvPr id="44" name="Cost per decision card"/>
          <p:cNvSpPr/>
          <p:nvPr/>
        </p:nvSpPr>
        <p:spPr>
          <a:xfrm>
            <a:off x="4663440" y="3337560"/>
            <a:ext cx="4023360" cy="1097280"/>
          </a:xfrm>
          <a:prstGeom prst="roundRect">
            <a:avLst>
              <a:gd name="adj" fmla="val 10000"/>
            </a:avLst>
          </a:prstGeom>
          <a:solidFill>
            <a:schemeClr val="tx2"/>
          </a:solidFill>
          <a:ln w="15875">
            <a:solidFill>
              <a:schemeClr val="accent1"/>
            </a:solidFill>
            <a:prstDash val="solid"/>
          </a:ln>
        </p:spPr>
      </p:sp>
      <p:pic>
        <p:nvPicPr>
          <p:cNvPr id="45" name="Image 8" descr="preencoded.png">    </p:cNvPr>
          <p:cNvPicPr>
            <a:picLocks noChangeAspect="1"/>
          </p:cNvPicPr>
          <p:nvPr/>
        </p:nvPicPr>
        <p:blipFill>
          <a:blip r:embed="rId9"/>
          <a:stretch>
            <a:fillRect/>
          </a:stretch>
        </p:blipFill>
        <p:spPr>
          <a:xfrm>
            <a:off x="4846320" y="3493008"/>
            <a:ext cx="329184" cy="329184"/>
          </a:xfrm>
          <a:prstGeom prst="rect">
            <a:avLst/>
          </a:prstGeom>
        </p:spPr>
      </p:pic>
      <p:sp>
        <p:nvSpPr>
          <p:cNvPr id="46" name="Cost per decision head"/>
          <p:cNvSpPr txBox="1"/>
          <p:nvPr/>
        </p:nvSpPr>
        <p:spPr>
          <a:xfrm>
            <a:off x="5303520" y="3474720"/>
            <a:ext cx="3200400" cy="365760"/>
          </a:xfrm>
          <a:prstGeom prst="rect">
            <a:avLst/>
          </a:prstGeom>
          <a:noFill/>
          <a:ln/>
        </p:spPr>
        <p:txBody>
          <a:bodyPr wrap="square" lIns="0" tIns="0" rIns="0" bIns="0" rtlCol="0" anchor="ctr"/>
          <a:lstStyle/>
          <a:p>
            <a:pPr indent="0" marL="0">
              <a:buNone/>
            </a:pPr>
            <a:r>
              <a:rPr lang="en-US" sz="1500" b="1" dirty="0">
                <a:solidFill>
                  <a:schemeClr val="accent6"/>
                </a:solidFill>
              </a:rPr>
              <a:t>Cost per decision</a:t>
            </a:r>
            <a:endParaRPr lang="en-US" sz="1500" dirty="0"/>
          </a:p>
        </p:txBody>
      </p:sp>
      <p:sp>
        <p:nvSpPr>
          <p:cNvPr id="47" name="Cost per decision text"/>
          <p:cNvSpPr txBox="1"/>
          <p:nvPr/>
        </p:nvSpPr>
        <p:spPr>
          <a:xfrm>
            <a:off x="4846320" y="3904488"/>
            <a:ext cx="3657600" cy="603504"/>
          </a:xfrm>
          <a:prstGeom prst="rect">
            <a:avLst/>
          </a:prstGeom>
          <a:noFill/>
          <a:ln/>
        </p:spPr>
        <p:txBody>
          <a:bodyPr wrap="square" lIns="0" tIns="0" rIns="0" bIns="0" rtlCol="0" anchor="t"/>
          <a:lstStyle/>
          <a:p>
            <a:pPr indent="0" marL="0">
              <a:buNone/>
            </a:pPr>
            <a:r>
              <a:rPr lang="en-US" sz="1200" dirty="0">
                <a:solidFill>
                  <a:schemeClr val="bg1"/>
                </a:solidFill>
              </a:rPr>
              <a:t>$0.02 USDC over x402 · 0.1 MON reward to the majority · ~0.02 MON gas per tap from the drip</a:t>
            </a:r>
            <a:endParaRPr lang="en-US" sz="1200" dirty="0"/>
          </a:p>
        </p:txBody>
      </p:sp>
      <p:sp>
        <p:nvSpPr>
          <p:cNvPr id="25" name="Slide Number Placeholder 0"/>
          <p:cNvSpPr>
            <a:spLocks noGrp="1"/>
          </p:cNvSpPr>
          <p:nvPr>
            <p:ph type="sldNum" sz="quarter" idx="4294967295"/>
          </p:nvPr>
        </p:nvSpPr>
        <p:spPr>
          <a:xfrm>
            <a:off x="457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Why Monad: </a:t>
            </a:r>
            <a:pPr algn="l" indent="0" marL="0">
              <a:buNone/>
            </a:pPr>
            <a:r>
              <a:rPr lang="en-US" sz="3000" b="1" dirty="0">
                <a:solidFill>
                  <a:schemeClr val="accent6"/>
                </a:solidFill>
              </a:rPr>
              <a:t>measured, not quoted</a:t>
            </a:r>
            <a:endParaRPr lang="en-US" sz="3000" dirty="0"/>
          </a:p>
        </p:txBody>
      </p:sp>
      <p:sp>
        <p:nvSpPr>
          <p:cNvPr id="3" name="Stat 1 card"/>
          <p:cNvSpPr/>
          <p:nvPr/>
        </p:nvSpPr>
        <p:spPr>
          <a:xfrm>
            <a:off x="457200" y="1024128"/>
            <a:ext cx="1920240" cy="960120"/>
          </a:xfrm>
          <a:prstGeom prst="roundRect">
            <a:avLst>
              <a:gd name="adj" fmla="val 11429"/>
            </a:avLst>
          </a:prstGeom>
          <a:solidFill>
            <a:schemeClr val="tx2"/>
          </a:solidFill>
          <a:ln w="15875">
            <a:solidFill>
              <a:schemeClr val="accent4"/>
            </a:solidFill>
            <a:prstDash val="solid"/>
          </a:ln>
        </p:spPr>
      </p:sp>
      <p:sp>
        <p:nvSpPr>
          <p:cNvPr id="4" name="Stat 1 number"/>
          <p:cNvSpPr txBox="1"/>
          <p:nvPr/>
        </p:nvSpPr>
        <p:spPr>
          <a:xfrm>
            <a:off x="548640" y="1097280"/>
            <a:ext cx="1737360" cy="502920"/>
          </a:xfrm>
          <a:prstGeom prst="rect">
            <a:avLst/>
          </a:prstGeom>
          <a:noFill/>
          <a:ln/>
        </p:spPr>
        <p:txBody>
          <a:bodyPr wrap="square" lIns="0" tIns="0" rIns="0" bIns="0" rtlCol="0" anchor="ctr"/>
          <a:lstStyle/>
          <a:p>
            <a:pPr algn="ctr" indent="0" marL="0">
              <a:buNone/>
            </a:pPr>
            <a:r>
              <a:rPr lang="en-US" sz="2800" b="1" dirty="0">
                <a:solidFill>
                  <a:schemeClr val="accent2"/>
                </a:solidFill>
              </a:rPr>
              <a:t>40/40</a:t>
            </a:r>
            <a:endParaRPr lang="en-US" sz="2800" dirty="0"/>
          </a:p>
        </p:txBody>
      </p:sp>
      <p:sp>
        <p:nvSpPr>
          <p:cNvPr id="5" name="Stat 1 label"/>
          <p:cNvSpPr txBox="1"/>
          <p:nvPr/>
        </p:nvSpPr>
        <p:spPr>
          <a:xfrm>
            <a:off x="548640" y="1609344"/>
            <a:ext cx="1737360" cy="310896"/>
          </a:xfrm>
          <a:prstGeom prst="rect">
            <a:avLst/>
          </a:prstGeom>
          <a:noFill/>
          <a:ln/>
        </p:spPr>
        <p:txBody>
          <a:bodyPr wrap="square" lIns="0" tIns="0" rIns="0" bIns="0" rtlCol="0" anchor="t"/>
          <a:lstStyle/>
          <a:p>
            <a:pPr algn="ctr" indent="0" marL="0">
              <a:buNone/>
            </a:pPr>
            <a:r>
              <a:rPr lang="en-US" sz="1200" dirty="0">
                <a:solidFill>
                  <a:schemeClr val="bg1"/>
                </a:solidFill>
              </a:rPr>
              <a:t>phones at once, in 1 block</a:t>
            </a:r>
            <a:endParaRPr lang="en-US" sz="1200" dirty="0"/>
          </a:p>
        </p:txBody>
      </p:sp>
      <p:sp>
        <p:nvSpPr>
          <p:cNvPr id="6" name="Stat 2 card"/>
          <p:cNvSpPr/>
          <p:nvPr/>
        </p:nvSpPr>
        <p:spPr>
          <a:xfrm>
            <a:off x="2560320" y="1024128"/>
            <a:ext cx="1920240" cy="960120"/>
          </a:xfrm>
          <a:prstGeom prst="roundRect">
            <a:avLst>
              <a:gd name="adj" fmla="val 11429"/>
            </a:avLst>
          </a:prstGeom>
          <a:solidFill>
            <a:schemeClr val="tx2"/>
          </a:solidFill>
          <a:ln w="15875">
            <a:solidFill>
              <a:schemeClr val="accent4"/>
            </a:solidFill>
            <a:prstDash val="solid"/>
          </a:ln>
        </p:spPr>
      </p:sp>
      <p:sp>
        <p:nvSpPr>
          <p:cNvPr id="7" name="Stat 2 number"/>
          <p:cNvSpPr txBox="1"/>
          <p:nvPr/>
        </p:nvSpPr>
        <p:spPr>
          <a:xfrm>
            <a:off x="2651760" y="1097280"/>
            <a:ext cx="1737360" cy="502920"/>
          </a:xfrm>
          <a:prstGeom prst="rect">
            <a:avLst/>
          </a:prstGeom>
          <a:noFill/>
          <a:ln/>
        </p:spPr>
        <p:txBody>
          <a:bodyPr wrap="square" lIns="0" tIns="0" rIns="0" bIns="0" rtlCol="0" anchor="ctr"/>
          <a:lstStyle/>
          <a:p>
            <a:pPr algn="ctr" indent="0" marL="0">
              <a:buNone/>
            </a:pPr>
            <a:r>
              <a:rPr lang="en-US" sz="2800" b="1" dirty="0">
                <a:solidFill>
                  <a:schemeClr val="accent6"/>
                </a:solidFill>
              </a:rPr>
              <a:t>~1.9 s</a:t>
            </a:r>
            <a:endParaRPr lang="en-US" sz="2800" dirty="0"/>
          </a:p>
        </p:txBody>
      </p:sp>
      <p:sp>
        <p:nvSpPr>
          <p:cNvPr id="8" name="Stat 2 label"/>
          <p:cNvSpPr txBox="1"/>
          <p:nvPr/>
        </p:nvSpPr>
        <p:spPr>
          <a:xfrm>
            <a:off x="2651760" y="1609344"/>
            <a:ext cx="1737360" cy="310896"/>
          </a:xfrm>
          <a:prstGeom prst="rect">
            <a:avLst/>
          </a:prstGeom>
          <a:noFill/>
          <a:ln/>
        </p:spPr>
        <p:txBody>
          <a:bodyPr wrap="square" lIns="0" tIns="0" rIns="0" bIns="0" rtlCol="0" anchor="t"/>
          <a:lstStyle/>
          <a:p>
            <a:pPr algn="ctr" indent="0" marL="0">
              <a:buNone/>
            </a:pPr>
            <a:r>
              <a:rPr lang="en-US" sz="1200" dirty="0">
                <a:solidFill>
                  <a:schemeClr val="bg1"/>
                </a:solidFill>
              </a:rPr>
              <a:t>from tap to inclusion</a:t>
            </a:r>
            <a:endParaRPr lang="en-US" sz="1200" dirty="0"/>
          </a:p>
        </p:txBody>
      </p:sp>
      <p:sp>
        <p:nvSpPr>
          <p:cNvPr id="9" name="Stat 3 card"/>
          <p:cNvSpPr/>
          <p:nvPr/>
        </p:nvSpPr>
        <p:spPr>
          <a:xfrm>
            <a:off x="4663440" y="1024128"/>
            <a:ext cx="1920240" cy="960120"/>
          </a:xfrm>
          <a:prstGeom prst="roundRect">
            <a:avLst>
              <a:gd name="adj" fmla="val 11429"/>
            </a:avLst>
          </a:prstGeom>
          <a:solidFill>
            <a:schemeClr val="tx2"/>
          </a:solidFill>
          <a:ln w="15875">
            <a:solidFill>
              <a:schemeClr val="accent4"/>
            </a:solidFill>
            <a:prstDash val="solid"/>
          </a:ln>
        </p:spPr>
      </p:sp>
      <p:sp>
        <p:nvSpPr>
          <p:cNvPr id="10" name="Stat 3 number"/>
          <p:cNvSpPr txBox="1"/>
          <p:nvPr/>
        </p:nvSpPr>
        <p:spPr>
          <a:xfrm>
            <a:off x="4754880" y="1097280"/>
            <a:ext cx="1737360" cy="502920"/>
          </a:xfrm>
          <a:prstGeom prst="rect">
            <a:avLst/>
          </a:prstGeom>
          <a:noFill/>
          <a:ln/>
        </p:spPr>
        <p:txBody>
          <a:bodyPr wrap="square" lIns="0" tIns="0" rIns="0" bIns="0" rtlCol="0" anchor="ctr"/>
          <a:lstStyle/>
          <a:p>
            <a:pPr algn="ctr" indent="0" marL="0">
              <a:buNone/>
            </a:pPr>
            <a:r>
              <a:rPr lang="en-US" sz="2800" b="1" dirty="0">
                <a:solidFill>
                  <a:schemeClr val="accent3"/>
                </a:solidFill>
              </a:rPr>
              <a:t>100/100</a:t>
            </a:r>
            <a:endParaRPr lang="en-US" sz="2800" dirty="0"/>
          </a:p>
        </p:txBody>
      </p:sp>
      <p:sp>
        <p:nvSpPr>
          <p:cNvPr id="11" name="Stat 3 label"/>
          <p:cNvSpPr txBox="1"/>
          <p:nvPr/>
        </p:nvSpPr>
        <p:spPr>
          <a:xfrm>
            <a:off x="4754880" y="1609344"/>
            <a:ext cx="1737360" cy="310896"/>
          </a:xfrm>
          <a:prstGeom prst="rect">
            <a:avLst/>
          </a:prstGeom>
          <a:noFill/>
          <a:ln/>
        </p:spPr>
        <p:txBody>
          <a:bodyPr wrap="square" lIns="0" tIns="0" rIns="0" bIns="0" rtlCol="0" anchor="t"/>
          <a:lstStyle/>
          <a:p>
            <a:pPr algn="ctr" indent="0" marL="0">
              <a:buNone/>
            </a:pPr>
            <a:r>
              <a:rPr lang="en-US" sz="1200" dirty="0">
                <a:solidFill>
                  <a:schemeClr val="bg1"/>
                </a:solidFill>
              </a:rPr>
              <a:t>taps, across 3 blocks</a:t>
            </a:r>
            <a:endParaRPr lang="en-US" sz="1200" dirty="0"/>
          </a:p>
        </p:txBody>
      </p:sp>
      <p:sp>
        <p:nvSpPr>
          <p:cNvPr id="12" name="Stat 4 card"/>
          <p:cNvSpPr/>
          <p:nvPr/>
        </p:nvSpPr>
        <p:spPr>
          <a:xfrm>
            <a:off x="6766560" y="1024128"/>
            <a:ext cx="1920240" cy="960120"/>
          </a:xfrm>
          <a:prstGeom prst="roundRect">
            <a:avLst>
              <a:gd name="adj" fmla="val 11429"/>
            </a:avLst>
          </a:prstGeom>
          <a:solidFill>
            <a:schemeClr val="tx2"/>
          </a:solidFill>
          <a:ln w="15875">
            <a:solidFill>
              <a:schemeClr val="accent4"/>
            </a:solidFill>
            <a:prstDash val="solid"/>
          </a:ln>
        </p:spPr>
      </p:sp>
      <p:sp>
        <p:nvSpPr>
          <p:cNvPr id="13" name="Stat 4 number"/>
          <p:cNvSpPr txBox="1"/>
          <p:nvPr/>
        </p:nvSpPr>
        <p:spPr>
          <a:xfrm>
            <a:off x="6858000" y="1097280"/>
            <a:ext cx="1737360" cy="502920"/>
          </a:xfrm>
          <a:prstGeom prst="rect">
            <a:avLst/>
          </a:prstGeom>
          <a:noFill/>
          <a:ln/>
        </p:spPr>
        <p:txBody>
          <a:bodyPr wrap="square" lIns="0" tIns="0" rIns="0" bIns="0" rtlCol="0" anchor="ctr"/>
          <a:lstStyle/>
          <a:p>
            <a:pPr algn="ctr" indent="0" marL="0">
              <a:buNone/>
            </a:pPr>
            <a:r>
              <a:rPr lang="en-US" sz="2800" b="1" dirty="0">
                <a:solidFill>
                  <a:schemeClr val="accent5"/>
                </a:solidFill>
              </a:rPr>
              <a:t>1 tx</a:t>
            </a:r>
            <a:endParaRPr lang="en-US" sz="2800" dirty="0"/>
          </a:p>
        </p:txBody>
      </p:sp>
      <p:sp>
        <p:nvSpPr>
          <p:cNvPr id="14" name="Stat 4 label"/>
          <p:cNvSpPr txBox="1"/>
          <p:nvPr/>
        </p:nvSpPr>
        <p:spPr>
          <a:xfrm>
            <a:off x="6858000" y="1609344"/>
            <a:ext cx="1737360" cy="310896"/>
          </a:xfrm>
          <a:prstGeom prst="rect">
            <a:avLst/>
          </a:prstGeom>
          <a:noFill/>
          <a:ln/>
        </p:spPr>
        <p:txBody>
          <a:bodyPr wrap="square" lIns="0" tIns="0" rIns="0" bIns="0" rtlCol="0" anchor="t"/>
          <a:lstStyle/>
          <a:p>
            <a:pPr algn="ctr" indent="0" marL="0">
              <a:buNone/>
            </a:pPr>
            <a:r>
              <a:rPr lang="en-US" sz="1200" dirty="0">
                <a:solidFill>
                  <a:schemeClr val="bg1"/>
                </a:solidFill>
              </a:rPr>
              <a:t>pays all 28 winners</a:t>
            </a:r>
            <a:endParaRPr lang="en-US" sz="1200" dirty="0"/>
          </a:p>
        </p:txBody>
      </p:sp>
      <p:pic>
        <p:nvPicPr>
          <p:cNvPr id="15" name="Image 0" descr="preencoded.png">    </p:cNvPr>
          <p:cNvPicPr>
            <a:picLocks noChangeAspect="1"/>
          </p:cNvPicPr>
          <p:nvPr/>
        </p:nvPicPr>
        <p:blipFill>
          <a:blip r:embed="rId1"/>
          <a:stretch>
            <a:fillRect/>
          </a:stretch>
        </p:blipFill>
        <p:spPr>
          <a:xfrm>
            <a:off x="457200" y="2130552"/>
            <a:ext cx="274320" cy="274320"/>
          </a:xfrm>
          <a:prstGeom prst="rect">
            <a:avLst/>
          </a:prstGeom>
        </p:spPr>
      </p:pic>
      <p:sp>
        <p:nvSpPr>
          <p:cNvPr id="16" name="Gas note"/>
          <p:cNvSpPr txBox="1"/>
          <p:nvPr/>
        </p:nvSpPr>
        <p:spPr>
          <a:xfrm>
            <a:off x="868680" y="2075688"/>
            <a:ext cx="7818120" cy="411480"/>
          </a:xfrm>
          <a:prstGeom prst="rect">
            <a:avLst/>
          </a:prstGeom>
          <a:noFill/>
          <a:ln/>
        </p:spPr>
        <p:txBody>
          <a:bodyPr wrap="square" lIns="0" tIns="0" rIns="0" bIns="0" rtlCol="0" anchor="ctr"/>
          <a:lstStyle/>
          <a:p>
            <a:pPr indent="0" marL="0">
              <a:buNone/>
            </a:pPr>
            <a:r>
              <a:rPr lang="en-US" sz="1200" i="1" dirty="0">
                <a:solidFill>
                  <a:schemeClr val="bg2"/>
                </a:solidFill>
              </a:rPr>
              <a:t>Monad charges the full gas limit, so the tap that reaches quorum only decides the winner at constant gas, and one batch pays everyone right after.</a:t>
            </a:r>
            <a:endParaRPr lang="en-US" sz="1200" dirty="0"/>
          </a:p>
        </p:txBody>
      </p:sp>
      <p:sp>
        <p:nvSpPr>
          <p:cNvPr id="17" name="QR frame"/>
          <p:cNvSpPr/>
          <p:nvPr/>
        </p:nvSpPr>
        <p:spPr>
          <a:xfrm>
            <a:off x="457200" y="2697480"/>
            <a:ext cx="1920240" cy="1920240"/>
          </a:xfrm>
          <a:prstGeom prst="roundRect">
            <a:avLst>
              <a:gd name="adj" fmla="val 5714"/>
            </a:avLst>
          </a:prstGeom>
          <a:solidFill>
            <a:schemeClr val="bg1"/>
          </a:solidFill>
          <a:ln w="31750">
            <a:solidFill>
              <a:schemeClr val="accent1"/>
            </a:solidFill>
            <a:prstDash val="solid"/>
          </a:ln>
        </p:spPr>
      </p:sp>
      <p:pic>
        <p:nvPicPr>
          <p:cNvPr id="18" name="QR code to enter-market.vercel.app" descr="/Users/aaron/Documents/work/gravity/hackathan/enter-market-deck/src/qr.png">    </p:cNvPr>
          <p:cNvPicPr>
            <a:picLocks noChangeAspect="1"/>
          </p:cNvPicPr>
          <p:nvPr/>
        </p:nvPicPr>
        <p:blipFill>
          <a:blip r:embed="rId2"/>
          <a:stretch>
            <a:fillRect/>
          </a:stretch>
        </p:blipFill>
        <p:spPr>
          <a:xfrm>
            <a:off x="548640" y="2788920"/>
            <a:ext cx="1737360" cy="1737360"/>
          </a:xfrm>
          <a:prstGeom prst="rect">
            <a:avLst/>
          </a:prstGeom>
        </p:spPr>
      </p:pic>
      <p:sp>
        <p:nvSpPr>
          <p:cNvPr id="19" name="Link 1 icon"/>
          <p:cNvSpPr/>
          <p:nvPr/>
        </p:nvSpPr>
        <p:spPr>
          <a:xfrm>
            <a:off x="2651760" y="2743200"/>
            <a:ext cx="365760" cy="36576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2732227" y="2823667"/>
            <a:ext cx="204826" cy="204826"/>
          </a:xfrm>
          <a:prstGeom prst="rect">
            <a:avLst/>
          </a:prstGeom>
        </p:spPr>
      </p:pic>
      <p:sp>
        <p:nvSpPr>
          <p:cNvPr id="21" name="Link 1"/>
          <p:cNvSpPr txBox="1"/>
          <p:nvPr/>
        </p:nvSpPr>
        <p:spPr>
          <a:xfrm>
            <a:off x="3154680" y="2697480"/>
            <a:ext cx="5532120" cy="457200"/>
          </a:xfrm>
          <a:prstGeom prst="rect">
            <a:avLst/>
          </a:prstGeom>
          <a:noFill/>
          <a:ln/>
        </p:spPr>
        <p:txBody>
          <a:bodyPr wrap="square" lIns="0" tIns="0" rIns="0" bIns="0" rtlCol="0" anchor="ctr"/>
          <a:lstStyle/>
          <a:p>
            <a:pPr indent="0" marL="0">
              <a:buNone/>
            </a:pPr>
            <a:r>
              <a:rPr lang="en-US" sz="1300" b="1" dirty="0">
                <a:solidFill>
                  <a:schemeClr val="bg1"/>
                </a:solidFill>
              </a:rPr>
              <a:t>enter-market.vercel.app</a:t>
            </a:r>
            <a:endParaRPr lang="en-US" sz="1300" dirty="0"/>
          </a:p>
          <a:p>
            <a:pPr indent="0" marL="0">
              <a:buNone/>
            </a:pPr>
            <a:r>
              <a:rPr lang="en-US" sz="1100" dirty="0">
                <a:solidFill>
                  <a:schemeClr val="bg2"/>
                </a:solidFill>
              </a:rPr>
              <a:t>Scan to play · /try for a solo round</a:t>
            </a:r>
            <a:endParaRPr lang="en-US" sz="1300" dirty="0"/>
          </a:p>
        </p:txBody>
      </p:sp>
      <p:sp>
        <p:nvSpPr>
          <p:cNvPr id="22" name="Link 2 icon"/>
          <p:cNvSpPr/>
          <p:nvPr/>
        </p:nvSpPr>
        <p:spPr>
          <a:xfrm>
            <a:off x="2651760" y="3246120"/>
            <a:ext cx="365760" cy="365760"/>
          </a:xfrm>
          <a:prstGeom prst="ellipse">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2732227" y="3326587"/>
            <a:ext cx="204826" cy="204826"/>
          </a:xfrm>
          <a:prstGeom prst="rect">
            <a:avLst/>
          </a:prstGeom>
        </p:spPr>
      </p:pic>
      <p:sp>
        <p:nvSpPr>
          <p:cNvPr id="24" name="Link 2"/>
          <p:cNvSpPr txBox="1"/>
          <p:nvPr/>
        </p:nvSpPr>
        <p:spPr>
          <a:xfrm>
            <a:off x="3154680" y="3200400"/>
            <a:ext cx="5532120" cy="457200"/>
          </a:xfrm>
          <a:prstGeom prst="rect">
            <a:avLst/>
          </a:prstGeom>
          <a:noFill/>
          <a:ln/>
        </p:spPr>
        <p:txBody>
          <a:bodyPr wrap="square" lIns="0" tIns="0" rIns="0" bIns="0" rtlCol="0" anchor="ctr"/>
          <a:lstStyle/>
          <a:p>
            <a:pPr indent="0" marL="0">
              <a:buNone/>
            </a:pPr>
            <a:r>
              <a:rPr lang="en-US" sz="1300" b="1" dirty="0">
                <a:solidFill>
                  <a:schemeClr val="bg1"/>
                </a:solidFill>
              </a:rPr>
              <a:t>github.com/whtech/enter-market</a:t>
            </a:r>
            <a:endParaRPr lang="en-US" sz="1300" dirty="0"/>
          </a:p>
          <a:p>
            <a:pPr indent="0" marL="0">
              <a:buNone/>
            </a:pPr>
            <a:r>
              <a:rPr lang="en-US" sz="1100" dirty="0">
                <a:solidFill>
                  <a:schemeClr val="bg2"/>
                </a:solidFill>
              </a:rPr>
              <a:t>Open source: contract, app, agent, benchmark</a:t>
            </a:r>
            <a:endParaRPr lang="en-US" sz="1300" dirty="0"/>
          </a:p>
        </p:txBody>
      </p:sp>
      <p:sp>
        <p:nvSpPr>
          <p:cNvPr id="25" name="Link 3 icon"/>
          <p:cNvSpPr/>
          <p:nvPr/>
        </p:nvSpPr>
        <p:spPr>
          <a:xfrm>
            <a:off x="2651760" y="3749040"/>
            <a:ext cx="365760" cy="36576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2732227" y="3829507"/>
            <a:ext cx="204826" cy="204826"/>
          </a:xfrm>
          <a:prstGeom prst="rect">
            <a:avLst/>
          </a:prstGeom>
        </p:spPr>
      </p:pic>
      <p:sp>
        <p:nvSpPr>
          <p:cNvPr id="27" name="Link 3"/>
          <p:cNvSpPr txBox="1"/>
          <p:nvPr/>
        </p:nvSpPr>
        <p:spPr>
          <a:xfrm>
            <a:off x="3154680" y="3703320"/>
            <a:ext cx="5532120" cy="457200"/>
          </a:xfrm>
          <a:prstGeom prst="rect">
            <a:avLst/>
          </a:prstGeom>
          <a:noFill/>
          <a:ln/>
        </p:spPr>
        <p:txBody>
          <a:bodyPr wrap="square" lIns="0" tIns="0" rIns="0" bIns="0" rtlCol="0" anchor="ctr"/>
          <a:lstStyle/>
          <a:p>
            <a:pPr indent="0" marL="0">
              <a:buNone/>
            </a:pPr>
            <a:r>
              <a:rPr lang="en-US" sz="1300" b="1" dirty="0">
                <a:solidFill>
                  <a:schemeClr val="bg1"/>
                </a:solidFill>
              </a:rPr>
              <a:t>Contract (verified)</a:t>
            </a:r>
            <a:endParaRPr lang="en-US" sz="1300" dirty="0"/>
          </a:p>
          <a:p>
            <a:pPr indent="0" marL="0">
              <a:buNone/>
            </a:pPr>
            <a:r>
              <a:rPr lang="en-US" sz="1000" dirty="0">
                <a:solidFill>
                  <a:schemeClr val="bg2"/>
                </a:solidFill>
              </a:rPr>
              <a:t>0xd544a6d7f543930454a848780706afbab6c4e4ac</a:t>
            </a:r>
            <a:endParaRPr lang="en-US" sz="1300" dirty="0"/>
          </a:p>
        </p:txBody>
      </p:sp>
      <p:sp>
        <p:nvSpPr>
          <p:cNvPr id="28" name="Closing line"/>
          <p:cNvSpPr txBox="1"/>
          <p:nvPr/>
        </p:nvSpPr>
        <p:spPr>
          <a:xfrm>
            <a:off x="2651760" y="4206240"/>
            <a:ext cx="6035040" cy="411480"/>
          </a:xfrm>
          <a:prstGeom prst="rect">
            <a:avLst/>
          </a:prstGeom>
          <a:noFill/>
          <a:ln/>
        </p:spPr>
        <p:txBody>
          <a:bodyPr wrap="square" lIns="0" tIns="0" rIns="0" bIns="0" rtlCol="0" anchor="ctr"/>
          <a:lstStyle/>
          <a:p>
            <a:pPr indent="0" marL="0">
              <a:buNone/>
            </a:pPr>
            <a:r>
              <a:rPr lang="en-US" sz="1800" b="1" i="1" dirty="0">
                <a:solidFill>
                  <a:schemeClr val="accent5"/>
                </a:solidFill>
              </a:rPr>
              <a:t>Now my agent pays you to press ENTER.</a:t>
            </a:r>
            <a:endParaRPr lang="en-US" sz="1800" dirty="0"/>
          </a:p>
        </p:txBody>
      </p:sp>
      <p:sp>
        <p:nvSpPr>
          <p:cNvPr id="25" name="Slide Number Placeholder 0"/>
          <p:cNvSpPr>
            <a:spLocks noGrp="1"/>
          </p:cNvSpPr>
          <p:nvPr>
            <p:ph type="sldNum" sz="quarter" idx="4294967295"/>
          </p:nvPr>
        </p:nvSpPr>
        <p:spPr>
          <a:xfrm>
            <a:off x="457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ENTER Market">
  <a:themeElements>
    <a:clrScheme name="ENTER Market">
      <a:dk1>
        <a:srgbClr val="0B0620"/>
      </a:dk1>
      <a:lt1>
        <a:srgbClr val="FFFFFF"/>
      </a:lt1>
      <a:dk2>
        <a:srgbClr val="1E1548"/>
      </a:dk2>
      <a:lt2>
        <a:srgbClr val="C9C2F5"/>
      </a:lt2>
      <a:accent1>
        <a:srgbClr val="836EF9"/>
      </a:accent1>
      <a:accent2>
        <a:srgbClr val="00F0FF"/>
      </a:accent2>
      <a:accent3>
        <a:srgbClr val="FF4FD8"/>
      </a:accent3>
      <a:accent4>
        <a:srgbClr val="2B2160"/>
      </a:accent4>
      <a:accent5>
        <a:srgbClr val="A08CFF"/>
      </a:accent5>
      <a:accent6>
        <a:srgbClr val="FFE94F"/>
      </a:accent6>
      <a:hlink>
        <a:srgbClr val="00F0FF"/>
      </a:hlink>
      <a:folHlink>
        <a:srgbClr val="A08CFF"/>
      </a:folHlink>
    </a:clrScheme>
    <a:fontScheme name="ENTER Mark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 Market</dc:title>
  <dc:subject>PptxGenJS Presentation</dc:subject>
  <dc:creator>Wuming</dc:creator>
  <cp:lastModifiedBy>Wuming</cp:lastModifiedBy>
  <cp:revision>1</cp:revision>
  <dcterms:created xsi:type="dcterms:W3CDTF">2026-10-17T07:13:48Z</dcterms:created>
  <dcterms:modified xsi:type="dcterms:W3CDTF">2026-10-17T07:13:48Z</dcterms:modified>
</cp:coreProperties>
</file>